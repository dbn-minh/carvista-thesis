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edac746da2458a" /><Relationship Type="http://schemas.openxmlformats.org/officeDocument/2006/relationships/extended-properties" Target="/docProps/app.xml" Id="R35833b36aee24b7e" /><Relationship Type="http://schemas.openxmlformats.org/officeDocument/2006/relationships/officeDocument" Target="/ppt/presentation.xml" Id="R3f00e5771d5c46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a6510ac41a4f71"/>
  </p:sldMasterIdLst>
  <p:notesMasterIdLst>
    <p:notesMasterId xmlns:r="http://schemas.openxmlformats.org/officeDocument/2006/relationships" r:id="R1fbd9cc13a564400"/>
  </p:notesMasterIdLst>
  <p:sldIdLst>
    <p:sldId xmlns:r="http://schemas.openxmlformats.org/officeDocument/2006/relationships" id="256" r:id="R39cc1ad65023431e"/>
    <p:sldId xmlns:r="http://schemas.openxmlformats.org/officeDocument/2006/relationships" id="257" r:id="R26f3eed4f0194951"/>
    <p:sldId xmlns:r="http://schemas.openxmlformats.org/officeDocument/2006/relationships" id="258" r:id="Rf77b2e3ef3264b7f"/>
    <p:sldId xmlns:r="http://schemas.openxmlformats.org/officeDocument/2006/relationships" id="259" r:id="R272cb86c13a449d8"/>
    <p:sldId xmlns:r="http://schemas.openxmlformats.org/officeDocument/2006/relationships" id="260" r:id="Rf4cadb3789a4459c"/>
    <p:sldId xmlns:r="http://schemas.openxmlformats.org/officeDocument/2006/relationships" id="261" r:id="Raf152743468243d6"/>
    <p:sldId xmlns:r="http://schemas.openxmlformats.org/officeDocument/2006/relationships" id="262" r:id="R91acf785414c448c"/>
    <p:sldId xmlns:r="http://schemas.openxmlformats.org/officeDocument/2006/relationships" id="263" r:id="R1fc1758ed39340d8"/>
    <p:sldId xmlns:r="http://schemas.openxmlformats.org/officeDocument/2006/relationships" id="264" r:id="R5fdc29ea37714c6b"/>
    <p:sldId xmlns:r="http://schemas.openxmlformats.org/officeDocument/2006/relationships" id="265" r:id="Rd8a57444ca52463c"/>
    <p:sldId xmlns:r="http://schemas.openxmlformats.org/officeDocument/2006/relationships" id="266" r:id="R5115a854a1e846c6"/>
    <p:sldId xmlns:r="http://schemas.openxmlformats.org/officeDocument/2006/relationships" id="267" r:id="Re468bf8e218c44b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6510ac41a4f71" /><Relationship Type="http://schemas.openxmlformats.org/officeDocument/2006/relationships/theme" Target="/ppt/theme/theme1.xml" Id="R486c871d9aa24ef8" /><Relationship Type="http://schemas.openxmlformats.org/officeDocument/2006/relationships/notesMaster" Target="/ppt/notesMasters/notesMaster1.xml" Id="R1fbd9cc13a564400" /><Relationship Type="http://schemas.openxmlformats.org/officeDocument/2006/relationships/presProps" Target="/ppt/presProps.xml" Id="Rd733a09aafa6434a" /><Relationship Type="http://schemas.openxmlformats.org/officeDocument/2006/relationships/viewProps" Target="/ppt/viewProps.xml" Id="R2a33b14f875a4258" /><Relationship Type="http://schemas.openxmlformats.org/officeDocument/2006/relationships/tableStyles" Target="/ppt/tableStyles.xml" Id="R187cebb0c2274826" /><Relationship Type="http://schemas.openxmlformats.org/officeDocument/2006/relationships/slide" Target="/ppt/slides/slide1.xml" Id="R39cc1ad65023431e" /><Relationship Type="http://schemas.openxmlformats.org/officeDocument/2006/relationships/slide" Target="/ppt/slides/slide2.xml" Id="R26f3eed4f0194951" /><Relationship Type="http://schemas.openxmlformats.org/officeDocument/2006/relationships/slide" Target="/ppt/slides/slide3.xml" Id="Rf77b2e3ef3264b7f" /><Relationship Type="http://schemas.openxmlformats.org/officeDocument/2006/relationships/slide" Target="/ppt/slides/slide4.xml" Id="R272cb86c13a449d8" /><Relationship Type="http://schemas.openxmlformats.org/officeDocument/2006/relationships/slide" Target="/ppt/slides/slide5.xml" Id="Rf4cadb3789a4459c" /><Relationship Type="http://schemas.openxmlformats.org/officeDocument/2006/relationships/slide" Target="/ppt/slides/slide6.xml" Id="Raf152743468243d6" /><Relationship Type="http://schemas.openxmlformats.org/officeDocument/2006/relationships/slide" Target="/ppt/slides/slide7.xml" Id="R91acf785414c448c" /><Relationship Type="http://schemas.openxmlformats.org/officeDocument/2006/relationships/slide" Target="/ppt/slides/slide8.xml" Id="R1fc1758ed39340d8" /><Relationship Type="http://schemas.openxmlformats.org/officeDocument/2006/relationships/slide" Target="/ppt/slides/slide9.xml" Id="R5fdc29ea37714c6b" /><Relationship Type="http://schemas.openxmlformats.org/officeDocument/2006/relationships/slide" Target="/ppt/slides/slide10.xml" Id="Rd8a57444ca52463c" /><Relationship Type="http://schemas.openxmlformats.org/officeDocument/2006/relationships/slide" Target="/ppt/slides/slide11.xml" Id="R5115a854a1e846c6" /><Relationship Type="http://schemas.openxmlformats.org/officeDocument/2006/relationships/slide" Target="/ppt/slides/slide12.xml" Id="Re468bf8e218c44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0bcc051fb6c4d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33350" dir="5400000">
              <a:srgbClr val="0F2D62">
                <a:alpha val="8000"/>
              </a:srgbClr>
            </a:outerShdw>
          </a:effectLst>
        </a:effectStyle>
        <a:effectStyle>
          <a:effectLst>
            <a:outerShdw blurRad="400050" dist="190500" dir="5400000">
              <a:srgbClr val="0F2D62">
                <a:alpha val="8000"/>
              </a:srgbClr>
            </a:outerShdw>
          </a:effectLst>
        </a:effectStyle>
        <a:effectStyle>
          <a:effectLst>
            <a:outerShdw blurRad="228600" dist="114300" dir="5400000">
              <a:srgbClr val="2563EB">
                <a:alpha val="10000"/>
              </a:srgbClr>
            </a:outerShdw>
          </a:effectLst>
        </a:effectStyle>
        <a:effectStyle>
          <a:effectLst>
            <a:outerShdw blurRad="228600" dist="114300" dir="5400000">
              <a:srgbClr val="0F2D62">
                <a:alpha val="6000"/>
              </a:srgbClr>
            </a:outerShdw>
          </a:effectLst>
        </a:effectStyle>
        <a:effectStyle>
          <a:effectLst>
            <a:outerShdw blurRad="266700" dist="133350" dir="5400000">
              <a:srgbClr val="0F2D62">
                <a:alpha val="7000"/>
              </a:srgbClr>
            </a:outerShdw>
          </a:effectLst>
        </a:effectStyle>
        <a:effectStyle>
          <a:effectLst>
            <a:outerShdw blurRad="323850" dist="171450" dir="5400000">
              <a:srgbClr val="0F2D62">
                <a:alpha val="8000"/>
              </a:srgbClr>
            </a:outerShdw>
          </a:effectLst>
        </a:effectStyle>
        <a:effectStyle>
          <a:effectLst>
            <a:outerShdw blurRad="285750" dist="133350" dir="5400000">
              <a:srgbClr val="0F2D62">
                <a:alpha val="8000"/>
              </a:srgbClr>
            </a:outerShdw>
          </a:effectLst>
        </a:effectStyle>
        <a:effectStyle>
          <a:effectLst>
            <a:outerShdw blurRad="342900" dist="171450" dir="5400000">
              <a:srgbClr val="0F2D62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e5ffb030d041aa" /><Relationship Type="http://schemas.openxmlformats.org/officeDocument/2006/relationships/notesMaster" Target="/ppt/notesMasters/notesMaster1.xml" Id="R6db6bd8ff7ac4a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62ac3bfac04e10" /><Relationship Type="http://schemas.openxmlformats.org/officeDocument/2006/relationships/notesMaster" Target="/ppt/notesMasters/notesMaster1.xml" Id="R57e3951f23c945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83e941348b4dde" /><Relationship Type="http://schemas.openxmlformats.org/officeDocument/2006/relationships/notesMaster" Target="/ppt/notesMasters/notesMaster1.xml" Id="Rffa77ef682ea40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a2c8aa37894260" /><Relationship Type="http://schemas.openxmlformats.org/officeDocument/2006/relationships/notesMaster" Target="/ppt/notesMasters/notesMaster1.xml" Id="R1b64fbcfbea3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3b0c51b2144e42" /><Relationship Type="http://schemas.openxmlformats.org/officeDocument/2006/relationships/notesMaster" Target="/ppt/notesMasters/notesMaster1.xml" Id="R03a2c4722ccd40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b87d7e712b47ac" /><Relationship Type="http://schemas.openxmlformats.org/officeDocument/2006/relationships/notesMaster" Target="/ppt/notesMasters/notesMaster1.xml" Id="R99e983fad6d84c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5f17453f1f43f9" /><Relationship Type="http://schemas.openxmlformats.org/officeDocument/2006/relationships/notesMaster" Target="/ppt/notesMasters/notesMaster1.xml" Id="R077b3ab7193447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0de39de0a64b5c" /><Relationship Type="http://schemas.openxmlformats.org/officeDocument/2006/relationships/notesMaster" Target="/ppt/notesMasters/notesMaster1.xml" Id="R32292fc217b04a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d7af92dac443fd" /><Relationship Type="http://schemas.openxmlformats.org/officeDocument/2006/relationships/notesMaster" Target="/ppt/notesMasters/notesMaster1.xml" Id="R10721478c3454a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8d700d39724f14" /><Relationship Type="http://schemas.openxmlformats.org/officeDocument/2006/relationships/notesMaster" Target="/ppt/notesMasters/notesMaster1.xml" Id="R7b3ceab5f5604f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ffd590e0854e80" /><Relationship Type="http://schemas.openxmlformats.org/officeDocument/2006/relationships/notesMaster" Target="/ppt/notesMasters/notesMaster1.xml" Id="R5061b0c83e1749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4ff114f7b24dde" /><Relationship Type="http://schemas.openxmlformats.org/officeDocument/2006/relationships/notesMaster" Target="/ppt/notesMasters/notesMaster1.xml" Id="R9fb567e2723d40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365c1ff7f4a6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41e1b98c83f44d6" /><Relationship Type="http://schemas.openxmlformats.org/officeDocument/2006/relationships/slideLayout" Target="/ppt/slideLayouts/slideLayout2.xml" Id="Rd425dc76e2f746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25dc76e2f746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7d0437549049b8" /><Relationship Type="http://schemas.openxmlformats.org/officeDocument/2006/relationships/notesSlide" Target="/ppt/notesSlides/notesSlide1.xml" Id="R1faf38671e3a4a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eb065421214647" /><Relationship Type="http://schemas.openxmlformats.org/officeDocument/2006/relationships/notesSlide" Target="/ppt/notesSlides/notesSlide2.xml" Id="Rc085301fbd7146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f5323a09f946c2" /><Relationship Type="http://schemas.openxmlformats.org/officeDocument/2006/relationships/notesSlide" Target="/ppt/notesSlides/notesSlide3.xml" Id="R7b5e9f97bf6f48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e8ef824a374d6e" /><Relationship Type="http://schemas.openxmlformats.org/officeDocument/2006/relationships/notesSlide" Target="/ppt/notesSlides/notesSlide4.xml" Id="R7f80ee3335c544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02118223e54da3" /><Relationship Type="http://schemas.openxmlformats.org/officeDocument/2006/relationships/notesSlide" Target="/ppt/notesSlides/notesSlide5.xml" Id="R006a280440a64d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747120b8f14a12" /><Relationship Type="http://schemas.openxmlformats.org/officeDocument/2006/relationships/notesSlide" Target="/ppt/notesSlides/notesSlide6.xml" Id="R32843f4a486b42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3dd70ef7cb4b01" /><Relationship Type="http://schemas.openxmlformats.org/officeDocument/2006/relationships/notesSlide" Target="/ppt/notesSlides/notesSlide7.xml" Id="R5569edf1ee084a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1f88d3e7d749c3" /><Relationship Type="http://schemas.openxmlformats.org/officeDocument/2006/relationships/notesSlide" Target="/ppt/notesSlides/notesSlide8.xml" Id="R9e2e7024b12a41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f47fa3c1c74130" /><Relationship Type="http://schemas.openxmlformats.org/officeDocument/2006/relationships/notesSlide" Target="/ppt/notesSlides/notesSlide9.xml" Id="R0d2fbf53637444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1ac174969f49f7" /><Relationship Type="http://schemas.openxmlformats.org/officeDocument/2006/relationships/notesSlide" Target="/ppt/notesSlides/notesSlide10.xml" Id="R282b4807ef1b48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b3254418b24de2" /><Relationship Type="http://schemas.openxmlformats.org/officeDocument/2006/relationships/notesSlide" Target="/ppt/notesSlides/notesSlide11.xml" Id="R3d271561e9e243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062a779277437d" /><Relationship Type="http://schemas.openxmlformats.org/officeDocument/2006/relationships/notesSlide" Target="/ppt/notesSlides/notesSlide12.xml" Id="R37635c6af06541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22BE4B6-5B6A-4E3C-9E91-1764859E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</p:spPr>
      </p:sp>
      <p:sp>
        <p:nvSpPr>
          <p:cNvPr id="2" name="blue-glow-left">
            <a:extLst xmlns:a="http://schemas.openxmlformats.org/drawingml/2006/main">
              <a:ext uri="{FF2B5EF4-FFF2-40B4-BE49-F238E27FC236}">
                <a16:creationId xmlns:a16="http://schemas.microsoft.com/office/drawing/2014/main" id="{C6647743-865B-4C0E-8E62-8B1C9DE4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57400" y="-1676400"/>
            <a:ext cx="6477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0">
            <a:solidFill>
              <a:srgbClr val="E7F0FF"/>
            </a:solidFill>
            <a:prstDash val="solid"/>
          </a:ln>
        </p:spPr>
      </p:sp>
      <p:sp>
        <p:nvSpPr>
          <p:cNvPr id="3" name="cyan-glow-right">
            <a:extLst xmlns:a="http://schemas.openxmlformats.org/drawingml/2006/main">
              <a:ext uri="{FF2B5EF4-FFF2-40B4-BE49-F238E27FC236}">
                <a16:creationId xmlns:a16="http://schemas.microsoft.com/office/drawing/2014/main" id="{AC08D2CF-4DE0-4254-96A4-714068D9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-1295400"/>
            <a:ext cx="5943600" cy="480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D4E9A-7142-4DCF-8272-356D6F34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943600"/>
            <a:ext cx="5638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CADDF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59CD9-7E36-4BEB-9649-FFAFCEDB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257800"/>
            <a:ext cx="2971800" cy="12192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D98DD-4264-436E-9252-9831E155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294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3E2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78FA8-EB33-472B-A7E7-E36FC733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81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1C866-A507-4133-B229-51001ED9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66294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3E2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63F3B-E6BE-4640-953B-C5A3D20C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681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349C0-E4AE-45D4-8DDC-F5AB93A4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6134100"/>
            <a:ext cx="3429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635AB-3F9D-4705-807C-D9BF038F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981200"/>
            <a:ext cx="1752600" cy="762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E60FE-064E-4DA8-9BF8-79659C92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1981200"/>
            <a:ext cx="1371600" cy="1524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A0A0C-2845-4A25-AE04-A736D343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505200"/>
            <a:ext cx="2133600" cy="9906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BFDB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B45A1-4E16-4AF3-A7D0-6F01153A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495800"/>
            <a:ext cx="2743200" cy="8382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BFDB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342C6-8C58-46CA-AFB5-B630A5F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2628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47625">
            <a:solidFill>
              <a:srgbClr val="DBEA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8F6CA-F501-4AB6-850F-2F52F78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1866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47625">
            <a:solidFill>
              <a:srgbClr val="DBEA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C871E-B190-4148-A599-C4DF8D1B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339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47625">
            <a:solidFill>
              <a:srgbClr val="DBEA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B53CD-511B-469F-8DD1-F9BCDBB8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343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47625">
            <a:solidFill>
              <a:srgbClr val="DBEA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2550B-7C96-473B-BADA-A248B63C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47625">
            <a:solidFill>
              <a:srgbClr val="DBEA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50214-5B36-467B-9A93-1C70A307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52550"/>
            <a:ext cx="1257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1B388B-6BDF-48FE-87BF-0FFC46F0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3A8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E3A8A"/>
                </a:solidFill>
                <a:latin typeface="Inter"/>
                <a:ea typeface="Inter"/>
                <a:cs typeface="Inter"/>
              </a:rPr>
              <a:t>CARVISTA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30ED13-68B9-4F7E-8DBC-D46B1D2A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352550"/>
            <a:ext cx="282892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A2FD4-9740-4678-9BC2-3CCE7BAF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28750"/>
            <a:ext cx="2533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AI-POWERED CAR PLATFORM</a:t>
            </a:r>
          </a:p>
        </p:txBody>
      </p:sp>
      <p:sp>
        <p:nvSpPr>
          <p:cNvPr id="2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D32195B-1B8A-49D2-BA43-F5393922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95821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1000"/>
              </a:lnSpc>
              <a:buNone/>
              <a:defRPr sz="57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57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CarVista: AI-Powered Intelligent Car Platform</a:t>
            </a:r>
          </a:p>
        </p:txBody>
      </p:sp>
      <p:sp>
        <p:nvSpPr>
          <p:cNvPr id="2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4C7C0DE-A450-46BB-A82D-CA51A719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90678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10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2100">
                <a:solidFill>
                  <a:srgbClr val="475569"/>
                </a:solidFill>
                <a:latin typeface="Inter"/>
                <a:ea typeface="Inter"/>
                <a:cs typeface="Inter"/>
              </a:rPr>
              <a:t>A full-stack automotive platform with AI-assisted comparison, price outlook, advisor chat, and ownership cost analysis</a:t>
            </a:r>
          </a:p>
        </p:txBody>
      </p:sp>
      <p:sp>
        <p:nvSpPr>
          <p:cNvPr id="26" name="cover-footer-shell">
            <a:extLst xmlns:a="http://schemas.openxmlformats.org/drawingml/2006/main">
              <a:ext uri="{FF2B5EF4-FFF2-40B4-BE49-F238E27FC236}">
                <a16:creationId xmlns:a16="http://schemas.microsoft.com/office/drawing/2014/main" id="{CDDF662B-448C-4ED4-8DF6-092A3476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05850"/>
            <a:ext cx="9334500" cy="4914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0"/>
        </p:style>
      </p:sp>
      <p:sp>
        <p:nvSpPr>
          <p:cNvPr id="27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68E0606D-0351-4ABE-A35E-D8AAC153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858250"/>
            <a:ext cx="883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rPr>
              <a:t>Bachelor Thesis Defense | School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5298609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7FAB4C7-966B-4AEE-AAC5-26078579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2" name="blue-glow-left">
            <a:extLst xmlns:a="http://schemas.openxmlformats.org/drawingml/2006/main">
              <a:ext uri="{FF2B5EF4-FFF2-40B4-BE49-F238E27FC236}">
                <a16:creationId xmlns:a16="http://schemas.microsoft.com/office/drawing/2014/main" id="{CD740EB6-F733-4A25-B1E9-4415CCC5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57400" y="-1676400"/>
            <a:ext cx="6477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0">
            <a:solidFill>
              <a:srgbClr val="E7F0FF"/>
            </a:solidFill>
            <a:prstDash val="solid"/>
          </a:ln>
        </p:spPr>
      </p:sp>
      <p:sp>
        <p:nvSpPr>
          <p:cNvPr id="3" name="cyan-glow-right">
            <a:extLst xmlns:a="http://schemas.openxmlformats.org/drawingml/2006/main">
              <a:ext uri="{FF2B5EF4-FFF2-40B4-BE49-F238E27FC236}">
                <a16:creationId xmlns:a16="http://schemas.microsoft.com/office/drawing/2014/main" id="{54044B97-39FE-437F-9FB4-5957BFE8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-1295400"/>
            <a:ext cx="5943600" cy="480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6FEBE3-58A8-49A1-805F-18A642DA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466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Problem Statement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781F688-8DC1-454D-BE11-A29A1551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1466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475569"/>
                </a:solidFill>
                <a:latin typeface="Inter"/>
                <a:ea typeface="Inter"/>
                <a:cs typeface="Inter"/>
              </a:rPr>
              <a:t>Car buying decisions are fragmented and hard to compare consistently.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25CB13D-EB63-43C0-984D-13D42440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27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4748B"/>
                </a:solidFill>
                <a:latin typeface="Inter"/>
                <a:ea typeface="Inter"/>
                <a:cs typeface="Inter"/>
              </a:rPr>
              <a:t>CarVista Thesis Defense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B26C916-46F7-45BF-A814-D20D8346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9677400"/>
            <a:ext cx="133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8" name="problem-main">
            <a:extLst xmlns:a="http://schemas.openxmlformats.org/drawingml/2006/main">
              <a:ext uri="{FF2B5EF4-FFF2-40B4-BE49-F238E27FC236}">
                <a16:creationId xmlns:a16="http://schemas.microsoft.com/office/drawing/2014/main" id="{1444DE66-3D1A-47DC-B29D-788F0FED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1239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10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100">
                <a:solidFill>
                  <a:srgbClr val="0F172A"/>
                </a:solidFill>
                <a:latin typeface="Inter"/>
                <a:ea typeface="Inter"/>
                <a:cs typeface="Inter"/>
              </a:rPr>
              <a:t>Buyers often move between vehicle specs, listings, reviews, price history, ownership cost, and seller information before they can make a confident decision.</a:t>
            </a:r>
          </a:p>
        </p:txBody>
      </p:sp>
      <p:sp>
        <p:nvSpPr>
          <p:cNvPr id="9" name="pain-1">
            <a:extLst xmlns:a="http://schemas.openxmlformats.org/drawingml/2006/main">
              <a:ext uri="{FF2B5EF4-FFF2-40B4-BE49-F238E27FC236}">
                <a16:creationId xmlns:a16="http://schemas.microsoft.com/office/drawing/2014/main" id="{365DA55B-DB0B-4338-990A-038C74EF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5334000" cy="385762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AEA9C-BD50-40D5-AA4D-375EF681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2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4850A-A698-48EA-8A2D-4EDF12D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2240F-4006-444F-BF13-5BBB09DC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62450"/>
            <a:ext cx="1143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13981-C77C-4907-A786-5465818F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838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31198-7405-4DC0-8747-09804E2D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91100"/>
            <a:ext cx="4800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2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Scattered vehicle information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66678-D806-44D7-8157-6865834B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4800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475569"/>
                </a:solidFill>
                <a:latin typeface="Inter"/>
                <a:ea typeface="Inter"/>
                <a:cs typeface="Inter"/>
              </a:rPr>
              <a:t>Specs, images, reviews, and market signals live in separate places.</a:t>
            </a:r>
          </a:p>
        </p:txBody>
      </p:sp>
      <p:sp>
        <p:nvSpPr>
          <p:cNvPr id="16" name="pain-2">
            <a:extLst xmlns:a="http://schemas.openxmlformats.org/drawingml/2006/main">
              <a:ext uri="{FF2B5EF4-FFF2-40B4-BE49-F238E27FC236}">
                <a16:creationId xmlns:a16="http://schemas.microsoft.com/office/drawing/2014/main" id="{849A8F39-595E-4E3E-A925-AF852EE9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334000" cy="385762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3FAA4-51E5-4ED7-846E-331CCCED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291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2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76A9E-69DC-41FF-ABC8-6693FF80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005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4176CA-4D36-43DA-86CC-2295E701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362450"/>
            <a:ext cx="1143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BB5A6-DF72-45E6-A721-08A099C0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38650"/>
            <a:ext cx="838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3DE275-2682-48F6-ACAB-978D0E8C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91100"/>
            <a:ext cx="4800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2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Hard-to-compare listings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EF804A-D14D-4ACA-A8E2-26002D84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86400"/>
            <a:ext cx="4800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475569"/>
                </a:solidFill>
                <a:latin typeface="Inter"/>
                <a:ea typeface="Inter"/>
                <a:cs typeface="Inter"/>
              </a:rPr>
              <a:t>Listings vary by seller detail, price context, condition, and availability.</a:t>
            </a:r>
          </a:p>
        </p:txBody>
      </p:sp>
      <p:sp>
        <p:nvSpPr>
          <p:cNvPr id="23" name="pain-3">
            <a:extLst xmlns:a="http://schemas.openxmlformats.org/drawingml/2006/main">
              <a:ext uri="{FF2B5EF4-FFF2-40B4-BE49-F238E27FC236}">
                <a16:creationId xmlns:a16="http://schemas.microsoft.com/office/drawing/2014/main" id="{BD5F830C-F386-4A12-B20F-68BDF495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000500"/>
            <a:ext cx="5334000" cy="385762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10C63F-6C01-4DED-A2BC-F4D5A291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2291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2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492F64-FECA-4B3A-AACF-C3E925E8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4005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6ECBAA-A598-4D9A-AC22-BAEFA3B1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4362450"/>
            <a:ext cx="1143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77E156-5B7B-47A0-9366-8C7C97A0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4438650"/>
            <a:ext cx="838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CB5B9A-CC5A-4849-AB2A-B2A5E164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991100"/>
            <a:ext cx="4800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2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Unclear ownership cost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B37B70-1A9B-47F9-9CC9-32568328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486400"/>
            <a:ext cx="4800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475569"/>
                </a:solidFill>
                <a:latin typeface="Inter"/>
                <a:ea typeface="Inter"/>
                <a:cs typeface="Inter"/>
              </a:rPr>
              <a:t>Long-term taxes, depreciation, fuel, and maintenance are difficult to estimate.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C008E9-5CEA-47F0-AD0D-EFCDD851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191500"/>
            <a:ext cx="11201400" cy="762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C156AC-4181-4D85-87C0-A8C8D2C5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8401050"/>
            <a:ext cx="1059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rPr>
              <a:t>CarVista turns these disconnected steps into one structured decision flow.</a:t>
            </a:r>
          </a:p>
        </p:txBody>
      </p:sp>
    </p:spTree>
    <p:extLst>
      <p:ext uri="{BB962C8B-B14F-4D97-AF65-F5344CB8AC3E}">
        <p14:creationId xmlns:p14="http://schemas.microsoft.com/office/powerpoint/2010/main" val="2909461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6A2229D-3982-4EA6-8E4D-E3836DF1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2" name="blue-glow-left">
            <a:extLst xmlns:a="http://schemas.openxmlformats.org/drawingml/2006/main">
              <a:ext uri="{FF2B5EF4-FFF2-40B4-BE49-F238E27FC236}">
                <a16:creationId xmlns:a16="http://schemas.microsoft.com/office/drawing/2014/main" id="{A7FC61FF-474C-408A-BE74-5245DAFE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57400" y="-1676400"/>
            <a:ext cx="6477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0">
            <a:solidFill>
              <a:srgbClr val="E7F0FF"/>
            </a:solidFill>
            <a:prstDash val="solid"/>
          </a:ln>
        </p:spPr>
      </p:sp>
      <p:sp>
        <p:nvSpPr>
          <p:cNvPr id="3" name="cyan-glow-right">
            <a:extLst xmlns:a="http://schemas.openxmlformats.org/drawingml/2006/main">
              <a:ext uri="{FF2B5EF4-FFF2-40B4-BE49-F238E27FC236}">
                <a16:creationId xmlns:a16="http://schemas.microsoft.com/office/drawing/2014/main" id="{A73FF908-F5EF-4626-9890-AB81760A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-1295400"/>
            <a:ext cx="5943600" cy="480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B05ED9-BCA6-4DE7-87ED-7AA7C26B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466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Project Objectives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23CE24-DE94-49C8-9DCC-62B0D905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1466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475569"/>
                </a:solidFill>
                <a:latin typeface="Inter"/>
                <a:ea typeface="Inter"/>
                <a:cs typeface="Inter"/>
              </a:rPr>
              <a:t>A practical full-stack platform with structured data and AI-assisted decision support.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B73F01-E1E5-46D5-BC95-0EDB08F9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27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4748B"/>
                </a:solidFill>
                <a:latin typeface="Inter"/>
                <a:ea typeface="Inter"/>
                <a:cs typeface="Inter"/>
              </a:rPr>
              <a:t>CarVista Thesis Defense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E5D068C-D7E6-4420-8673-6D48E4CC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9677400"/>
            <a:ext cx="133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8" name="objective-01">
            <a:extLst xmlns:a="http://schemas.openxmlformats.org/drawingml/2006/main">
              <a:ext uri="{FF2B5EF4-FFF2-40B4-BE49-F238E27FC236}">
                <a16:creationId xmlns:a16="http://schemas.microsoft.com/office/drawing/2014/main" id="{BEC17B54-64DD-4477-8B2D-ADF90876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7867650" cy="2724150"/>
          </a:xfrm>
          <a:prstGeom xmlns:a="http://schemas.openxmlformats.org/drawingml/2006/main" prst="roundRect">
            <a:avLst>
              <a:gd name="adj" fmla="val 10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32144-B3C4-425D-96E9-784B0838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2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A0C21-43CA-43BF-B527-75ECE254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146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5858F-0DC7-4D06-B90D-B69B84C4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43200"/>
            <a:ext cx="6457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325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Full-stack catalog and marketplace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8707F-F1A0-4BFD-81DF-1A19AE20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19450"/>
            <a:ext cx="645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Search, inspect, list, and manage vehicles from one product surface.</a:t>
            </a:r>
          </a:p>
        </p:txBody>
      </p:sp>
      <p:sp>
        <p:nvSpPr>
          <p:cNvPr id="13" name="objective-02">
            <a:extLst xmlns:a="http://schemas.openxmlformats.org/drawingml/2006/main">
              <a:ext uri="{FF2B5EF4-FFF2-40B4-BE49-F238E27FC236}">
                <a16:creationId xmlns:a16="http://schemas.microsoft.com/office/drawing/2014/main" id="{8D643478-3AFD-426B-9613-E2BD7DEE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7867650" cy="2724150"/>
          </a:xfrm>
          <a:prstGeom xmlns:a="http://schemas.openxmlformats.org/drawingml/2006/main" prst="roundRect">
            <a:avLst>
              <a:gd name="adj" fmla="val 10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B5081-D447-4F01-A48D-1F2DBC04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43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2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D9CEC-8FDB-4480-93C7-0BCE4FC4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146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F81E2-E0D1-46D0-944C-C9CCCF3C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743200"/>
            <a:ext cx="6457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325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Buyer and seller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81F4B-DF4E-4754-96C8-3145B12C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19450"/>
            <a:ext cx="64579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Save cars, create listings, upload photos, request viewings, and manage status.</a:t>
            </a:r>
          </a:p>
        </p:txBody>
      </p:sp>
      <p:sp>
        <p:nvSpPr>
          <p:cNvPr id="18" name="objective-03">
            <a:extLst xmlns:a="http://schemas.openxmlformats.org/drawingml/2006/main">
              <a:ext uri="{FF2B5EF4-FFF2-40B4-BE49-F238E27FC236}">
                <a16:creationId xmlns:a16="http://schemas.microsoft.com/office/drawing/2014/main" id="{E11697C9-E764-4B03-BB71-B256D254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7867650" cy="2724150"/>
          </a:xfrm>
          <a:prstGeom xmlns:a="http://schemas.openxmlformats.org/drawingml/2006/main" prst="roundRect">
            <a:avLst>
              <a:gd name="adj" fmla="val 10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4FFA7-B565-4F31-8E45-3FACF29F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2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A703F-C0F6-406C-858E-F91E585F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919DF-7437-4E8F-B144-52F84E5B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34050"/>
            <a:ext cx="6457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325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AI-assisted decision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9A9FC-DE5C-4A75-86E7-CBBBCB5C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210300"/>
            <a:ext cx="645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Advisor chat, comparison, price outlook, and ownership-cost guidance.</a:t>
            </a:r>
          </a:p>
        </p:txBody>
      </p:sp>
      <p:sp>
        <p:nvSpPr>
          <p:cNvPr id="23" name="objective-04">
            <a:extLst xmlns:a="http://schemas.openxmlformats.org/drawingml/2006/main">
              <a:ext uri="{FF2B5EF4-FFF2-40B4-BE49-F238E27FC236}">
                <a16:creationId xmlns:a16="http://schemas.microsoft.com/office/drawing/2014/main" id="{677253F6-F8FF-45A2-8F29-B5308B1A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67350"/>
            <a:ext cx="7867650" cy="2724150"/>
          </a:xfrm>
          <a:prstGeom xmlns:a="http://schemas.openxmlformats.org/drawingml/2006/main" prst="roundRect">
            <a:avLst>
              <a:gd name="adj" fmla="val 10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EDA0A0-EF28-41E1-BDEB-8C38E4C4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340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2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5A2F1B-4609-4FA1-BA92-71A7DF57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90550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E6B761-EA4F-43E4-B09C-C37435F5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734050"/>
            <a:ext cx="6457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325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Grounded backend calculations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AB562B-E182-4F8D-99D9-C5CEEB58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10300"/>
            <a:ext cx="64579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Calculations and scores are derived from structured services and database records.</a:t>
            </a:r>
          </a:p>
        </p:txBody>
      </p:sp>
    </p:spTree>
    <p:extLst>
      <p:ext uri="{BB962C8B-B14F-4D97-AF65-F5344CB8AC3E}">
        <p14:creationId xmlns:p14="http://schemas.microsoft.com/office/powerpoint/2010/main" val="15339880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877DFA1-23B4-415B-A480-2C66FD91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2" name="blue-glow-left">
            <a:extLst xmlns:a="http://schemas.openxmlformats.org/drawingml/2006/main">
              <a:ext uri="{FF2B5EF4-FFF2-40B4-BE49-F238E27FC236}">
                <a16:creationId xmlns:a16="http://schemas.microsoft.com/office/drawing/2014/main" id="{5C3B9778-EF33-4570-8453-9AB82F70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57400" y="-1676400"/>
            <a:ext cx="6477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0">
            <a:solidFill>
              <a:srgbClr val="E7F0FF"/>
            </a:solidFill>
            <a:prstDash val="solid"/>
          </a:ln>
        </p:spPr>
      </p:sp>
      <p:sp>
        <p:nvSpPr>
          <p:cNvPr id="3" name="cyan-glow-right">
            <a:extLst xmlns:a="http://schemas.openxmlformats.org/drawingml/2006/main">
              <a:ext uri="{FF2B5EF4-FFF2-40B4-BE49-F238E27FC236}">
                <a16:creationId xmlns:a16="http://schemas.microsoft.com/office/drawing/2014/main" id="{08089142-9432-4D6B-BF16-EA69ACFB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-1295400"/>
            <a:ext cx="5943600" cy="480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62D315-9F64-4DFA-BC19-1ED8F259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466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CarVista System Overview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6333F78-C3A0-4168-9BB0-269C6892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1466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475569"/>
                </a:solidFill>
                <a:latin typeface="Inter"/>
                <a:ea typeface="Inter"/>
                <a:cs typeface="Inter"/>
              </a:rPr>
              <a:t>One integrated platform for car research, marketplace actions, and intelligent guidance.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91F346E-711F-4CF2-B8F2-81D5419C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27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4748B"/>
                </a:solidFill>
                <a:latin typeface="Inter"/>
                <a:ea typeface="Inter"/>
                <a:cs typeface="Inter"/>
              </a:rPr>
              <a:t>CarVista Thesis Defense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38D98AD-2BCF-4CA0-80A5-B5956E5F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9677400"/>
            <a:ext cx="133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0957D-A57F-46B3-B2D2-077B9005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1750"/>
            <a:ext cx="3143250" cy="765810"/>
          </a:xfrm>
          <a:prstGeom xmlns:a="http://schemas.openxmlformats.org/drawingml/2006/main" prst="roundRect">
            <a:avLst>
              <a:gd name="adj" fmla="val 298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3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EF8D0-CDE6-4601-9AE8-A554A023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95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55452-A7A8-4AE3-9271-1AA3E074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24150"/>
            <a:ext cx="2495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Catalog browsing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0D238-9899-4CC8-9622-14E211AA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9900"/>
            <a:ext cx="2495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475569"/>
                </a:solidFill>
                <a:latin typeface="Inter"/>
                <a:ea typeface="Inter"/>
                <a:cs typeface="Inter"/>
              </a:rPr>
              <a:t>Vehicle specs and media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DBBAA-0F5C-4333-8672-7FF7E147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48000"/>
            <a:ext cx="5791200" cy="20574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DBEA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7FFEC-EF36-4028-868C-B2DBB7B7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57450"/>
            <a:ext cx="3143250" cy="765810"/>
          </a:xfrm>
          <a:prstGeom xmlns:a="http://schemas.openxmlformats.org/drawingml/2006/main" prst="roundRect">
            <a:avLst>
              <a:gd name="adj" fmla="val 298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3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511FB-358C-4486-9FD6-989A284F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96C03-5C71-4735-A1A6-BD06D665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9850"/>
            <a:ext cx="2495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Marketplace listings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6F0D4-9AF4-4CB9-8EAC-EC9E2855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95600"/>
            <a:ext cx="2495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475569"/>
                </a:solidFill>
                <a:latin typeface="Inter"/>
                <a:ea typeface="Inter"/>
                <a:cs typeface="Inter"/>
              </a:rPr>
              <a:t>Live seller inventory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8280C-467C-468F-AA19-E4361381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1828800" cy="2209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DBEA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C5BC1-837D-4937-9436-B44EC1B7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457450"/>
            <a:ext cx="3143250" cy="765810"/>
          </a:xfrm>
          <a:prstGeom xmlns:a="http://schemas.openxmlformats.org/drawingml/2006/main" prst="roundRect">
            <a:avLst>
              <a:gd name="adj" fmla="val 298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3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B0BFE-2E50-4709-8EC2-D3A4269E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2AC49-5A7B-46CF-9FAA-04C355CC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609850"/>
            <a:ext cx="2495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Seller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F6BAC-4656-4D4E-A720-DA3493BF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895600"/>
            <a:ext cx="2495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475569"/>
                </a:solidFill>
                <a:latin typeface="Inter"/>
                <a:ea typeface="Inter"/>
                <a:cs typeface="Inter"/>
              </a:rPr>
              <a:t>Create and manage listings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41F41-7D91-45B5-ACB7-C7B75568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3124200" cy="2209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DBEA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9C378-BF86-4FE2-BDFF-286AC7FD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714625"/>
            <a:ext cx="3143250" cy="765810"/>
          </a:xfrm>
          <a:prstGeom xmlns:a="http://schemas.openxmlformats.org/drawingml/2006/main" prst="roundRect">
            <a:avLst>
              <a:gd name="adj" fmla="val 298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3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D9E055-8492-4532-B184-16AC1FD7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3028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00EE9-9296-4A58-B833-98C7E916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2876550"/>
            <a:ext cx="2495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Saved listings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948FA-03A2-4994-8D83-E4F6814F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3162300"/>
            <a:ext cx="2495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475569"/>
                </a:solidFill>
                <a:latin typeface="Inter"/>
                <a:ea typeface="Inter"/>
                <a:cs typeface="Inter"/>
              </a:rPr>
              <a:t>Garage/watchlist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5A48FF-3EC7-428E-A32E-979716A3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7010400" cy="19812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DBEAF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8160EE-1417-4A10-ACF0-79059FF7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819900"/>
            <a:ext cx="3143250" cy="765810"/>
          </a:xfrm>
          <a:prstGeom xmlns:a="http://schemas.openxmlformats.org/drawingml/2006/main" prst="roundRect">
            <a:avLst>
              <a:gd name="adj" fmla="val 298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3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C018E2-B505-4DDA-8503-AE16F8E7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143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DD31FD-C71B-4354-87AA-34F0567A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972300"/>
            <a:ext cx="2495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Reviews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F09954-37B1-46E4-957B-4AE0D457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7258050"/>
            <a:ext cx="2495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475569"/>
                </a:solidFill>
                <a:latin typeface="Inter"/>
                <a:ea typeface="Inter"/>
                <a:cs typeface="Inter"/>
              </a:rPr>
              <a:t>Car and seller feedback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66C3DE-4779-4E3E-9F12-52F2283A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105400"/>
            <a:ext cx="5638800" cy="21336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DBEAF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32D745-75F0-4BB6-90F2-A3379466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524750"/>
            <a:ext cx="3143250" cy="765810"/>
          </a:xfrm>
          <a:prstGeom xmlns:a="http://schemas.openxmlformats.org/drawingml/2006/main" prst="roundRect">
            <a:avLst>
              <a:gd name="adj" fmla="val 298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3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33F9CE-ACF6-4370-9085-BFE3DB39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848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AA7B96-9789-4EE2-90F1-555184A2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677150"/>
            <a:ext cx="2495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AI advisor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7E2C84-B6C8-4CFF-925E-9DD46B07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962900"/>
            <a:ext cx="2495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475569"/>
                </a:solidFill>
                <a:latin typeface="Inter"/>
                <a:ea typeface="Inter"/>
                <a:cs typeface="Inter"/>
              </a:rPr>
              <a:t>Intent-aware chat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FE1DCE-C787-4FE9-8A56-AE205554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05400"/>
            <a:ext cx="2133600" cy="28956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DBEAF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2F8D7F-A01A-4F96-AD11-EA4B7EA9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524750"/>
            <a:ext cx="3143250" cy="765810"/>
          </a:xfrm>
          <a:prstGeom xmlns:a="http://schemas.openxmlformats.org/drawingml/2006/main" prst="roundRect">
            <a:avLst>
              <a:gd name="adj" fmla="val 298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3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105A04-C8B0-4BA9-8817-63C04013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48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AE19D5-BD79-4ACD-BD24-3743DADD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677150"/>
            <a:ext cx="2495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Smart comparison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8D4337-0D2C-47FA-92A5-C72B1AF3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962900"/>
            <a:ext cx="2495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475569"/>
                </a:solidFill>
                <a:latin typeface="Inter"/>
                <a:ea typeface="Inter"/>
                <a:cs typeface="Inter"/>
              </a:rPr>
              <a:t>Scores and trade-offs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3C09DF-44E9-43F8-A4AA-89A49C7A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05400"/>
            <a:ext cx="2133600" cy="28956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DBEAF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41B9FB-8299-4944-A434-34936723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6810375"/>
            <a:ext cx="3143250" cy="765810"/>
          </a:xfrm>
          <a:prstGeom xmlns:a="http://schemas.openxmlformats.org/drawingml/2006/main" prst="roundRect">
            <a:avLst>
              <a:gd name="adj" fmla="val 298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3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D681A4-1AC2-41AE-830F-6C7AD8E7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7124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461517-74E8-4A93-BABC-BE6B7B65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972300"/>
            <a:ext cx="2495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Price outlook + TCO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3FF5D2-CC47-486E-A648-8FF6B209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7258050"/>
            <a:ext cx="2495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475569"/>
                </a:solidFill>
                <a:latin typeface="Inter"/>
                <a:ea typeface="Inter"/>
                <a:cs typeface="Inter"/>
              </a:rPr>
              <a:t>Market and ownership panels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24B1DA-AC2B-423D-84FD-D1F57DE6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05400"/>
            <a:ext cx="5715000" cy="21336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DBEAFE"/>
            </a:solidFill>
            <a:prstDash val="solid"/>
          </a:ln>
        </p:spPr>
      </p:sp>
      <p:sp>
        <p:nvSpPr>
          <p:cNvPr id="48" name="central-carvista">
            <a:extLst xmlns:a="http://schemas.openxmlformats.org/drawingml/2006/main">
              <a:ext uri="{FF2B5EF4-FFF2-40B4-BE49-F238E27FC236}">
                <a16:creationId xmlns:a16="http://schemas.microsoft.com/office/drawing/2014/main" id="{81A6F946-15FD-41A9-A6BE-894A180C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5486400" cy="2857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0A6C84-0DA1-4322-A7CE-68C218AE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00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defRPr>
            </a:pPr>
            <a:r>
              <a:rPr sz="4050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rPr>
              <a:t>CarVista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5966B2-0901-437B-A0B6-AC747484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91150"/>
            <a:ext cx="480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Catalog + Marketplace + AI Insight Layer</a:t>
            </a:r>
          </a:p>
        </p:txBody>
      </p:sp>
    </p:spTree>
    <p:extLst>
      <p:ext uri="{BB962C8B-B14F-4D97-AF65-F5344CB8AC3E}">
        <p14:creationId xmlns:p14="http://schemas.microsoft.com/office/powerpoint/2010/main" val="19921337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8979E94-BF4C-48E0-88D7-3E038FAD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2" name="blue-glow-left">
            <a:extLst xmlns:a="http://schemas.openxmlformats.org/drawingml/2006/main">
              <a:ext uri="{FF2B5EF4-FFF2-40B4-BE49-F238E27FC236}">
                <a16:creationId xmlns:a16="http://schemas.microsoft.com/office/drawing/2014/main" id="{425124E7-221A-43A3-AF81-26AF83A2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57400" y="-1676400"/>
            <a:ext cx="6477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0">
            <a:solidFill>
              <a:srgbClr val="E7F0FF"/>
            </a:solidFill>
            <a:prstDash val="solid"/>
          </a:ln>
        </p:spPr>
      </p:sp>
      <p:sp>
        <p:nvSpPr>
          <p:cNvPr id="3" name="cyan-glow-right">
            <a:extLst xmlns:a="http://schemas.openxmlformats.org/drawingml/2006/main">
              <a:ext uri="{FF2B5EF4-FFF2-40B4-BE49-F238E27FC236}">
                <a16:creationId xmlns:a16="http://schemas.microsoft.com/office/drawing/2014/main" id="{ADAD6B35-4D23-461E-9DF1-F33B6C10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-1295400"/>
            <a:ext cx="5943600" cy="480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AF5A2F-98B1-452A-B367-FD61EDD1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466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Technology Stack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06E038C-4F2B-43C2-8DD1-765B4975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1466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475569"/>
                </a:solidFill>
                <a:latin typeface="Inter"/>
                <a:ea typeface="Inter"/>
                <a:cs typeface="Inter"/>
              </a:rPr>
              <a:t>Layered implementation choices for frontend, backend, data, AI, and deployment readiness.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3867263-4F96-4E08-A7CB-1E7FE3AD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27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4748B"/>
                </a:solidFill>
                <a:latin typeface="Inter"/>
                <a:ea typeface="Inter"/>
                <a:cs typeface="Inter"/>
              </a:rPr>
              <a:t>CarVista Thesis Defense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EAB8815-EB3B-479B-9847-575B495E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9677400"/>
            <a:ext cx="133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B47A5-B6C6-4BB8-ACE8-8B3A50C7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2381250" cy="8382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4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BE26E-7EBE-4A96-9154-FD1A8A88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2890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30AC6-487D-4BEF-97D5-89612BC0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43150"/>
            <a:ext cx="12839700" cy="8382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42C85-A804-47EF-8737-48F5AC7F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12306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Next.js, React, TypeScript, Tailwind CSS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8C9D5-55EB-4A6C-B837-F7FCCBB3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2381250" cy="8382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4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B831D-F912-4A70-960F-C2BD59D5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1950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DDC93-61B6-4CF9-BED7-F22AD17E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33750"/>
            <a:ext cx="12839700" cy="8382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56022-F122-4C34-939A-B1374F70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0450"/>
            <a:ext cx="12306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Node.js, Express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A3944-BAE9-4335-8265-B94206DB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24350"/>
            <a:ext cx="2381250" cy="8382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4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D28F9-B1A6-4BB5-B54F-9003F093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1010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rPr>
              <a:t>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3861C-0108-451F-B078-93452807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24350"/>
            <a:ext cx="12839700" cy="8382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2A0D3-FBEB-4512-BD17-55A5E843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91050"/>
            <a:ext cx="12306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MySQL, Sequelize 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E33E1-44F9-486D-BCC1-CAB17C71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2381250" cy="8382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4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C1B80-F6C2-4967-AD6E-7EC916D3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0070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3AED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7C3AED"/>
                </a:solidFill>
                <a:latin typeface="Space Grotesk"/>
                <a:ea typeface="Space Grotesk"/>
                <a:cs typeface="Space Grotesk"/>
              </a:rPr>
              <a:t>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7A79EB-8F15-4914-9853-F18798B5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314950"/>
            <a:ext cx="12839700" cy="8382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0FC882-D35B-498D-BC37-18C110C8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81650"/>
            <a:ext cx="12306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Qwen3-32B via FPT AI Factory / OpenAI-compatible adapter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BA088-ADC8-45AA-93EB-833AF50F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05550"/>
            <a:ext cx="2381250" cy="8382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4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8525E-6EB5-4140-964E-3A2D0619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59130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91B2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891B2"/>
                </a:solidFill>
                <a:latin typeface="Space Grotesk"/>
                <a:ea typeface="Space Grotesk"/>
                <a:cs typeface="Space Grotesk"/>
              </a:rPr>
              <a:t>Data support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F0B39-0DF2-4957-8EC7-2266AF34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305550"/>
            <a:ext cx="12839700" cy="8382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3DB977-3508-4A98-A8B8-8FB3EE67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72250"/>
            <a:ext cx="12306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Python scripts for seed and ingestion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59653-9143-468F-A92B-AE186B34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96150"/>
            <a:ext cx="2381250" cy="8382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4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DD39EB-B876-4697-B23C-88EE3D52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58190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64748B"/>
                </a:solidFill>
                <a:latin typeface="Space Grotesk"/>
                <a:ea typeface="Space Grotesk"/>
                <a:cs typeface="Space Grotesk"/>
              </a:rPr>
              <a:t>Deployment prep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74CA8F-175E-41F4-B7E4-FC3AF31F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296150"/>
            <a:ext cx="12839700" cy="8382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4ECC7C-70C4-4717-8179-7396AC2E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562850"/>
            <a:ext cx="12306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Render / Vercel / Railway cloud-ready setup</a:t>
            </a:r>
          </a:p>
        </p:txBody>
      </p:sp>
    </p:spTree>
    <p:extLst>
      <p:ext uri="{BB962C8B-B14F-4D97-AF65-F5344CB8AC3E}">
        <p14:creationId xmlns:p14="http://schemas.microsoft.com/office/powerpoint/2010/main" val="6478338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403C633-756E-47F2-99C8-FECA38AD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2" name="blue-glow-left">
            <a:extLst xmlns:a="http://schemas.openxmlformats.org/drawingml/2006/main">
              <a:ext uri="{FF2B5EF4-FFF2-40B4-BE49-F238E27FC236}">
                <a16:creationId xmlns:a16="http://schemas.microsoft.com/office/drawing/2014/main" id="{D28F37FD-6A81-4EDA-819F-BA3B10A0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57400" y="-1676400"/>
            <a:ext cx="6477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0">
            <a:solidFill>
              <a:srgbClr val="E7F0FF"/>
            </a:solidFill>
            <a:prstDash val="solid"/>
          </a:ln>
        </p:spPr>
      </p:sp>
      <p:sp>
        <p:nvSpPr>
          <p:cNvPr id="3" name="cyan-glow-right">
            <a:extLst xmlns:a="http://schemas.openxmlformats.org/drawingml/2006/main">
              <a:ext uri="{FF2B5EF4-FFF2-40B4-BE49-F238E27FC236}">
                <a16:creationId xmlns:a16="http://schemas.microsoft.com/office/drawing/2014/main" id="{D24355AA-6C1A-497D-8ABB-8F231EDD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-1295400"/>
            <a:ext cx="5943600" cy="480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CB7CF8-0B5D-47B8-95EA-DFC2D10C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466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System Architecture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98C7310-5A14-44B7-A5EB-AB61C037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1466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475569"/>
                </a:solidFill>
                <a:latin typeface="Inter"/>
                <a:ea typeface="Inter"/>
                <a:cs typeface="Inter"/>
              </a:rPr>
              <a:t>Backend services calculate and validate; Qwen3 turns grounded results into buyer-friendly insight.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8C703A4-0E3C-4303-A627-3BC01AD7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27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4748B"/>
                </a:solidFill>
                <a:latin typeface="Inter"/>
                <a:ea typeface="Inter"/>
                <a:cs typeface="Inter"/>
              </a:rPr>
              <a:t>CarVista Thesis Defense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02A0DF5-D03E-4EB4-893D-E1FC62C7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9677400"/>
            <a:ext cx="133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D9371-EAB5-4BB6-BAA8-BA759A15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057400" cy="13716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5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68427-D069-429F-AAA7-1C46227C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163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User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AA01A-1FD7-4A76-A470-06C89595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1638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475569"/>
                </a:solidFill>
                <a:latin typeface="Inter"/>
                <a:ea typeface="Inter"/>
                <a:cs typeface="Inter"/>
              </a:rPr>
              <a:t>Next.js product screens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2D875-D7B9-424A-84B9-9FB08815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0520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81F07-31F8-4280-AF10-8A6E63C7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623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A6041-D877-409D-8282-FFC65AD2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057400" cy="13716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5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B4F43-1AD1-4B3C-AC1E-0B782A7A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71850"/>
            <a:ext cx="163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Backend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9890D-A6F9-485C-B1AC-3514E840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14750"/>
            <a:ext cx="1638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475569"/>
                </a:solidFill>
                <a:latin typeface="Inter"/>
                <a:ea typeface="Inter"/>
                <a:cs typeface="Inter"/>
              </a:rPr>
              <a:t>Express routes + auth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00869-6260-4F16-9913-C69A0989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0520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C4C99-2BFC-4253-966F-B249A605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623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5EEAD-03AC-4ACA-A2DA-3012C844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2057400" cy="13716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5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1C1BA-63D1-41EB-9219-B8D82B09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163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Domain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A85B7-D2C7-40F8-8027-6EE36B11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9500"/>
            <a:ext cx="1638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475569"/>
                </a:solidFill>
                <a:latin typeface="Inter"/>
                <a:ea typeface="Inter"/>
                <a:cs typeface="Inter"/>
              </a:rPr>
              <a:t>Scores, estimates, 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0551B-85D7-47B7-AC5B-867650FB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0520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7ACB51-F0E9-4AB4-9867-FFB092D0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623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95A094-C6F4-402E-B772-F4DF7E9F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52750"/>
            <a:ext cx="2057400" cy="13716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5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7E5596-A2B6-484D-8178-349CE5A7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76600"/>
            <a:ext cx="163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Database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25403C-8200-49E6-890D-0E1551FE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19500"/>
            <a:ext cx="1638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475569"/>
                </a:solidFill>
                <a:latin typeface="Inter"/>
                <a:ea typeface="Inter"/>
                <a:cs typeface="Inter"/>
              </a:rPr>
              <a:t>MySQL + Sequelize models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1674D8-C585-46F3-A22E-D2E3AD40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50520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F1165-63FF-47DD-99FF-240ADB6C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5623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494D60-C7E7-49CB-A61F-6F20FD9F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952750"/>
            <a:ext cx="2247900" cy="13716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5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F19D2B-4BF6-4631-8003-650C40B7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371850"/>
            <a:ext cx="1828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AI Insight Layer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2A4048-5133-49AE-A56B-1C132074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714750"/>
            <a:ext cx="1828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475569"/>
                </a:solidFill>
                <a:latin typeface="Inter"/>
                <a:ea typeface="Inter"/>
                <a:cs typeface="Inter"/>
              </a:rPr>
              <a:t>Prompts, routing, formatting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8C5FBE-B27E-4EA7-8516-F6876691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50520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2584E1-EA87-4B3D-84BA-3FCC7B9F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5623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313B0C-61B1-4C35-A5A5-3013973A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2952750"/>
            <a:ext cx="2057400" cy="13716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5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3FEFB0-075E-4236-880A-73962846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276600"/>
            <a:ext cx="163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Qwen3-32B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CB1BCA-5B47-4DFF-A994-F2E89CA8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619500"/>
            <a:ext cx="1638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475569"/>
                </a:solidFill>
                <a:latin typeface="Inter"/>
                <a:ea typeface="Inter"/>
                <a:cs typeface="Inter"/>
              </a:rPr>
              <a:t>Reasoning and explanation</a:t>
            </a:r>
          </a:p>
        </p:txBody>
      </p:sp>
      <p:sp>
        <p:nvSpPr>
          <p:cNvPr id="36" name="backend-note">
            <a:extLst xmlns:a="http://schemas.openxmlformats.org/drawingml/2006/main">
              <a:ext uri="{FF2B5EF4-FFF2-40B4-BE49-F238E27FC236}">
                <a16:creationId xmlns:a16="http://schemas.microsoft.com/office/drawing/2014/main" id="{DA1E2B1A-46B3-40DD-B3CF-6A8AE3B3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7477125" cy="30003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87CD58-37BA-46A9-8573-EEC3E6D4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57875"/>
            <a:ext cx="19907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9BF019-6ABB-4F6D-A309-1C93CAAC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4360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3A8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E3A8A"/>
                </a:solidFill>
                <a:latin typeface="Inter"/>
                <a:ea typeface="Inter"/>
                <a:cs typeface="Inter"/>
              </a:rPr>
              <a:t>SOURCE OF TRUTH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2483FB-05EA-4CAF-A098-962E16F2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62700"/>
            <a:ext cx="683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Backend responsibilities</a:t>
            </a:r>
          </a:p>
        </p:txBody>
      </p:sp>
      <p:sp>
        <p:nvSpPr>
          <p:cNvPr id="40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37ACF30C-6558-4570-AF3E-3362143B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91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830F3D95-13BB-4232-A322-8B9C9CB3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915150"/>
            <a:ext cx="662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Calculates scores, estimates, taxes, and totals</a:t>
            </a:r>
          </a:p>
        </p:txBody>
      </p:sp>
      <p:sp>
        <p:nvSpPr>
          <p:cNvPr id="42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3C263D6D-2172-4F89-A364-FACC2C2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31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CADA3C02-F0A4-4334-BEF7-E36160F0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7315200"/>
            <a:ext cx="662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Validates request inputs and ownership rules</a:t>
            </a:r>
          </a:p>
        </p:txBody>
      </p:sp>
      <p:sp>
        <p:nvSpPr>
          <p:cNvPr id="44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79E56998-13E9-4506-A756-9A3E3978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69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4CC4D717-3BB9-4C0B-B286-0F1304B4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7696200"/>
            <a:ext cx="662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Stores catalog, marketplace, review, and AI session data</a:t>
            </a:r>
          </a:p>
        </p:txBody>
      </p:sp>
      <p:sp>
        <p:nvSpPr>
          <p:cNvPr id="46" name="qwen-note">
            <a:extLst xmlns:a="http://schemas.openxmlformats.org/drawingml/2006/main">
              <a:ext uri="{FF2B5EF4-FFF2-40B4-BE49-F238E27FC236}">
                <a16:creationId xmlns:a16="http://schemas.microsoft.com/office/drawing/2014/main" id="{B971E980-5556-4EE6-A0FB-212C96C3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72125"/>
            <a:ext cx="7477125" cy="30003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187F4E-ABC0-413F-B142-C13D2FD0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857875"/>
            <a:ext cx="22002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926FD0-8359-43F7-9ABB-F2246CD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943600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EXPLANATION LAYER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406CF9-9D8A-404B-9456-7D04899A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62700"/>
            <a:ext cx="683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Qwen3 responsibilities</a:t>
            </a:r>
          </a:p>
        </p:txBody>
      </p:sp>
      <p:sp>
        <p:nvSpPr>
          <p:cNvPr id="50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9CCE9B14-9651-49AE-8698-1128C229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91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1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EF5E9A7-1AFD-4866-8693-9ACC61E0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915150"/>
            <a:ext cx="662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Explains trade-offs and market signals</a:t>
            </a:r>
          </a:p>
        </p:txBody>
      </p:sp>
      <p:sp>
        <p:nvSpPr>
          <p:cNvPr id="52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F4E852CA-158B-459A-AEEA-857FE08B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31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3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36CCB508-C20C-4CAC-99F9-AAB6E11B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315200"/>
            <a:ext cx="662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Summarizes structured outputs in natural language</a:t>
            </a:r>
          </a:p>
        </p:txBody>
      </p:sp>
      <p:sp>
        <p:nvSpPr>
          <p:cNvPr id="54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DC7D4535-451B-4898-98DA-3A0B447C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9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5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006D5EB6-C494-46DC-BFCB-150959DE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696200"/>
            <a:ext cx="662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Asks focused follow-up questions and formats guidance</a:t>
            </a:r>
          </a:p>
        </p:txBody>
      </p:sp>
    </p:spTree>
    <p:extLst>
      <p:ext uri="{BB962C8B-B14F-4D97-AF65-F5344CB8AC3E}">
        <p14:creationId xmlns:p14="http://schemas.microsoft.com/office/powerpoint/2010/main" val="1836847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886F2DF-7957-4AF8-A5DE-605B247E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2" name="blue-glow-left">
            <a:extLst xmlns:a="http://schemas.openxmlformats.org/drawingml/2006/main">
              <a:ext uri="{FF2B5EF4-FFF2-40B4-BE49-F238E27FC236}">
                <a16:creationId xmlns:a16="http://schemas.microsoft.com/office/drawing/2014/main" id="{AED3A1BA-9513-4EB9-B5DA-47011AFA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57400" y="-1676400"/>
            <a:ext cx="6477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0">
            <a:solidFill>
              <a:srgbClr val="E7F0FF"/>
            </a:solidFill>
            <a:prstDash val="solid"/>
          </a:ln>
        </p:spPr>
      </p:sp>
      <p:sp>
        <p:nvSpPr>
          <p:cNvPr id="3" name="cyan-glow-right">
            <a:extLst xmlns:a="http://schemas.openxmlformats.org/drawingml/2006/main">
              <a:ext uri="{FF2B5EF4-FFF2-40B4-BE49-F238E27FC236}">
                <a16:creationId xmlns:a16="http://schemas.microsoft.com/office/drawing/2014/main" id="{4BB81DC1-2EDB-4D5A-93F9-5AF4A3AC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-1295400"/>
            <a:ext cx="5943600" cy="480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1E7688-200D-46A0-90F4-71D3C711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466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Core User Workflows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A29009C-E060-4437-9DC6-DF3FBF29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1466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475569"/>
                </a:solidFill>
                <a:latin typeface="Inter"/>
                <a:ea typeface="Inter"/>
                <a:cs typeface="Inter"/>
              </a:rPr>
              <a:t>Buyer and seller paths connect marketplace activity with catalog and AI guidance.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D306E06-D9A4-420C-8711-3793785E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27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4748B"/>
                </a:solidFill>
                <a:latin typeface="Inter"/>
                <a:ea typeface="Inter"/>
                <a:cs typeface="Inter"/>
              </a:rPr>
              <a:t>CarVista Thesis Defense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C08D58D-85F7-453D-B0DE-F94AD606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9677400"/>
            <a:ext cx="133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8" name="buyer-lane">
            <a:extLst xmlns:a="http://schemas.openxmlformats.org/drawingml/2006/main">
              <a:ext uri="{FF2B5EF4-FFF2-40B4-BE49-F238E27FC236}">
                <a16:creationId xmlns:a16="http://schemas.microsoft.com/office/drawing/2014/main" id="{49048CF1-BBCE-4E1D-A623-4967931C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6459200" cy="2847975"/>
          </a:xfrm>
          <a:prstGeom xmlns:a="http://schemas.openxmlformats.org/drawingml/2006/main" prst="roundRect">
            <a:avLst>
              <a:gd name="adj" fmla="val 100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CAE34-4D2B-438E-8919-488E25B0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2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58CCF-66AC-449B-93C5-E35B74F1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DD90C-271F-4CFB-913C-E4ACE0C0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15049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Buyer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C563F-161B-456A-8B45-B522F3F2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180975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8CBAD-DE25-4F86-AAFF-0F65E998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Browse catalog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83ECF-CDBF-47CB-9074-F64F1766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4335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EFC6A-9508-4B9D-9933-A377796D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4F2FC-12A4-4DDC-8918-8BE3C1F3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81400"/>
            <a:ext cx="180975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1A79E-0347-4B5B-BC5B-F7A6C647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624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View listing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B584B-C77D-4036-8A80-7495BBA3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4335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3BDFE-5D77-4EFC-8684-56141455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0050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89D50-2F43-463C-BEC3-DC801F31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180975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BD7A6-7D2E-4333-ACE4-DAB79E47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Save car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7A13B-04A0-463F-84CD-00DACC36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FC2901-B242-422B-8E1A-8D0F48E9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95FB82-EB88-41A9-B8DD-E8DB0312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81400"/>
            <a:ext cx="180975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361845-6FD2-412E-94F3-1EA32738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624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Compare cars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6A3DC7-1C63-4F4C-833D-8AF63A28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94335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227CE1-1CF4-4715-B072-B66805DA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00050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9D1B3E-0A9A-4EEA-8ADB-69E05EAA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81400"/>
            <a:ext cx="180975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9380AA-DF2A-4993-B686-920230C5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9624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Ask AI advisor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1CCF8A-88DF-48F5-B7C9-C74D48C9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394335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01285A-4214-43E0-A8A2-EEF6A20F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400050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CAF8AD-4256-4D51-910E-72476CA9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581400"/>
            <a:ext cx="180975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032846-5735-4F3B-AD65-0D937145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848100"/>
            <a:ext cx="1524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Send viewing request</a:t>
            </a:r>
          </a:p>
        </p:txBody>
      </p:sp>
      <p:sp>
        <p:nvSpPr>
          <p:cNvPr id="34" name="seller-lane">
            <a:extLst xmlns:a="http://schemas.openxmlformats.org/drawingml/2006/main">
              <a:ext uri="{FF2B5EF4-FFF2-40B4-BE49-F238E27FC236}">
                <a16:creationId xmlns:a16="http://schemas.microsoft.com/office/drawing/2014/main" id="{F82E3F29-90BA-4FDE-AAE2-2A948B3F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9275"/>
            <a:ext cx="16459200" cy="2847975"/>
          </a:xfrm>
          <a:prstGeom xmlns:a="http://schemas.openxmlformats.org/drawingml/2006/main" prst="roundRect">
            <a:avLst>
              <a:gd name="adj" fmla="val 100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7991DD-BB89-4608-B434-8437F16D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2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DBA0C9-EBA7-4E3A-BB95-DFC9B222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0769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rPr>
              <a:t>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1E6E69-C75F-4B86-9445-61E8A608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19800"/>
            <a:ext cx="15049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Seller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FC8D10-DDE1-4D02-9457-358E265E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743700"/>
            <a:ext cx="180975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88A367-B332-489E-93E3-B883A01E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1247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Create listing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710509-7F61-4D12-A6C3-E81B9DAF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708660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1EA060-FFCE-4801-BB44-815ED96C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437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C53BFC-7276-4EA4-BF8D-E9668425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743700"/>
            <a:ext cx="180975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1242C7-49A1-4369-9139-6FE735C2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1247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Upload images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CF2B74-3154-4CF4-B606-720CA900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08660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F8D3FF-288E-484F-B6F1-73C48FC5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1437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&gt;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93D6D0-3C7E-43A1-93C7-43BE9F12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743700"/>
            <a:ext cx="180975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E1FB48-3CA8-447C-875B-89450EC4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1247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Manage listings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F1F46B-D990-4496-9BD2-E5429A45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08660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46D3FE-72A5-4A6E-ABA8-89ABD0C1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1437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&gt;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F0F75F-BD2F-4F2F-9F93-A4CBC5BD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743700"/>
            <a:ext cx="180975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D8887A-6206-4914-AF4D-9C3DC70E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7010400"/>
            <a:ext cx="1524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Receive viewing requests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8BCFE9-9213-4BA7-8591-E5D396DB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086600"/>
            <a:ext cx="419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004B90-02A8-4D43-8772-F014B5F1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1437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&gt;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5D367B-6166-476A-9E65-5CBD0BC9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743700"/>
            <a:ext cx="180975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41D203-D958-4215-914D-BB8A214B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71247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Update status</a:t>
            </a:r>
          </a:p>
        </p:txBody>
      </p:sp>
    </p:spTree>
    <p:extLst>
      <p:ext uri="{BB962C8B-B14F-4D97-AF65-F5344CB8AC3E}">
        <p14:creationId xmlns:p14="http://schemas.microsoft.com/office/powerpoint/2010/main" val="15950390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23C319E-645D-4169-AD51-899F4484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2" name="blue-glow-left">
            <a:extLst xmlns:a="http://schemas.openxmlformats.org/drawingml/2006/main">
              <a:ext uri="{FF2B5EF4-FFF2-40B4-BE49-F238E27FC236}">
                <a16:creationId xmlns:a16="http://schemas.microsoft.com/office/drawing/2014/main" id="{73A4AEA6-3BA1-42A6-B312-B2E78896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57400" y="-1676400"/>
            <a:ext cx="6477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0">
            <a:solidFill>
              <a:srgbClr val="E7F0FF"/>
            </a:solidFill>
            <a:prstDash val="solid"/>
          </a:ln>
        </p:spPr>
      </p:sp>
      <p:sp>
        <p:nvSpPr>
          <p:cNvPr id="3" name="cyan-glow-right">
            <a:extLst xmlns:a="http://schemas.openxmlformats.org/drawingml/2006/main">
              <a:ext uri="{FF2B5EF4-FFF2-40B4-BE49-F238E27FC236}">
                <a16:creationId xmlns:a16="http://schemas.microsoft.com/office/drawing/2014/main" id="{AF297857-F684-4246-AD2D-171AB33D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-1295400"/>
            <a:ext cx="5943600" cy="480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062024-3E5E-469D-9FEA-F47B3CDD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466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AI-Assisted Comparison and Price Outlook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A6DD88-8D3B-48B6-8E5F-565944E2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1466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475569"/>
                </a:solidFill>
                <a:latin typeface="Inter"/>
                <a:ea typeface="Inter"/>
                <a:cs typeface="Inter"/>
              </a:rPr>
              <a:t>Structured backend signals become clear explanations for buyer decisions.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269CE37-E8AB-49DF-BFAE-D9895150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27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4748B"/>
                </a:solidFill>
                <a:latin typeface="Inter"/>
                <a:ea typeface="Inter"/>
                <a:cs typeface="Inter"/>
              </a:rPr>
              <a:t>CarVista Thesis Defense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E31FA8B-460A-460E-A294-992F0335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9677400"/>
            <a:ext cx="133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8" name="comparison-card">
            <a:extLst xmlns:a="http://schemas.openxmlformats.org/drawingml/2006/main">
              <a:ext uri="{FF2B5EF4-FFF2-40B4-BE49-F238E27FC236}">
                <a16:creationId xmlns:a16="http://schemas.microsoft.com/office/drawing/2014/main" id="{25479695-0CE8-4948-95C2-DC6C5134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7839075" cy="6286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A8B65-791A-4CF6-9E61-0EBB6560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2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4CEFE-9609-4BDA-A025-21466834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384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94E09-C475-44ED-A06C-942795E4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0350"/>
            <a:ext cx="14668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E1ED3-151F-4F62-9435-11D200A2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76550"/>
            <a:ext cx="1162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E5937-7417-4BB9-AEE4-45056F06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67100"/>
            <a:ext cx="7200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Backend compares specs, prices, reviews, and scores.</a:t>
            </a:r>
          </a:p>
        </p:txBody>
      </p:sp>
      <p:sp>
        <p:nvSpPr>
          <p:cNvPr id="1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3705A080-D5AA-49B2-A7AE-7F9D22C7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B0B860AD-7A7F-4DC1-BB42-E8E7796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57650"/>
            <a:ext cx="6991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Scores value, practicality, safety, comfort, efficiency, resale, and fit</a:t>
            </a:r>
          </a:p>
        </p:txBody>
      </p:sp>
      <p:sp>
        <p:nvSpPr>
          <p:cNvPr id="1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5304ACC4-99EB-44C1-85FC-1706037F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2CD64693-EF82-492E-B59C-E3880C6E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38650"/>
            <a:ext cx="6991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Qwen3 explains strengths, weaknesses, and final verdict</a:t>
            </a:r>
          </a:p>
        </p:txBody>
      </p:sp>
      <p:sp>
        <p:nvSpPr>
          <p:cNvPr id="1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AFD4B4CA-038F-4D47-98CD-0CAA3BED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66277D56-7F57-410B-8D9F-399DFC64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19650"/>
            <a:ext cx="6991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No invented cars, prices, or specs outside grounded payloads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A15B41-E1FE-4529-BD1F-CD85E1BC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79593"/>
            <a:ext cx="7191375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C26EA-7897-4DD4-A8EC-FC3AA9DA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7690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19129-3358-43B4-B08D-4FBD948A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715000"/>
            <a:ext cx="3048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12BEFF-E5E5-4960-AE44-029BF360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95950"/>
            <a:ext cx="2266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Verdict</a:t>
            </a:r>
          </a:p>
        </p:txBody>
      </p:sp>
      <p:sp>
        <p:nvSpPr>
          <p:cNvPr id="24" name="price-outlook-card">
            <a:extLst xmlns:a="http://schemas.openxmlformats.org/drawingml/2006/main">
              <a:ext uri="{FF2B5EF4-FFF2-40B4-BE49-F238E27FC236}">
                <a16:creationId xmlns:a16="http://schemas.microsoft.com/office/drawing/2014/main" id="{D0701945-A28E-4D2B-AE0D-B6F74C45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81250"/>
            <a:ext cx="7839075" cy="6286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773F99-A9C7-4824-90CD-87E31D16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6670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2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493602-FC80-4F98-AB2B-E5A09D10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384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74CCD4-4A4A-4DC1-A681-C657AA88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9975" y="2800350"/>
            <a:ext cx="17811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54D3FF-C11D-4433-B84D-4B7CC885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876550"/>
            <a:ext cx="148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PRICE OUTLOOK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3C92E4-67FD-4D89-82E5-D7755C3A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67100"/>
            <a:ext cx="7200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Backend calculates trend indicators from market data.</a:t>
            </a:r>
          </a:p>
        </p:txBody>
      </p:sp>
      <p:sp>
        <p:nvSpPr>
          <p:cNvPr id="30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D26AE8CF-E521-4269-A4B4-FDC66333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7FDD2FCE-2C2E-41BE-BE0F-DE6CEB48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57700"/>
            <a:ext cx="6991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Uses price history, active listings, depreciation, and scarcity signals</a:t>
            </a:r>
          </a:p>
        </p:txBody>
      </p:sp>
      <p:sp>
        <p:nvSpPr>
          <p:cNvPr id="32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2AF7979A-4681-4F2F-AE00-38214BA4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38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49F112A3-35A1-4107-B9DE-FBF0CA9A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38700"/>
            <a:ext cx="6991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Qwen3 explains market signals, risk, and buyer advice</a:t>
            </a:r>
          </a:p>
        </p:txBody>
      </p:sp>
      <p:sp>
        <p:nvSpPr>
          <p:cNvPr id="34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5EC72216-144C-4C86-85D8-EE703E1B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19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8547E38F-4B93-4C3E-B5AA-552213D0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219700"/>
            <a:ext cx="6991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Presented as an estimate, not a guaranteed prediction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CF3C76-B8D9-44ED-B8E3-30952A70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675986"/>
            <a:ext cx="7191375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BFCF91-ED78-47D0-A8D8-D3E3EBEF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867400"/>
            <a:ext cx="2476500" cy="666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47625">
            <a:solidFill>
              <a:srgbClr val="2563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7980D8-0EB5-44FA-91A3-75FF083E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59626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Trend + range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573F91-E701-4B52-B4FB-6CD8A948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24840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475569"/>
                </a:solidFill>
                <a:latin typeface="Inter"/>
                <a:ea typeface="Inter"/>
                <a:cs typeface="Inter"/>
              </a:rPr>
              <a:t>Confidence and caveats travel with the answer.</a:t>
            </a:r>
          </a:p>
        </p:txBody>
      </p:sp>
    </p:spTree>
    <p:extLst>
      <p:ext uri="{BB962C8B-B14F-4D97-AF65-F5344CB8AC3E}">
        <p14:creationId xmlns:p14="http://schemas.microsoft.com/office/powerpoint/2010/main" val="21195234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7B844E5-DDB5-4226-BABE-E9544B25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2" name="blue-glow-left">
            <a:extLst xmlns:a="http://schemas.openxmlformats.org/drawingml/2006/main">
              <a:ext uri="{FF2B5EF4-FFF2-40B4-BE49-F238E27FC236}">
                <a16:creationId xmlns:a16="http://schemas.microsoft.com/office/drawing/2014/main" id="{F2697E20-9E60-4D82-B8E8-26CA75D4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57400" y="-1676400"/>
            <a:ext cx="6477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0">
            <a:solidFill>
              <a:srgbClr val="E7F0FF"/>
            </a:solidFill>
            <a:prstDash val="solid"/>
          </a:ln>
        </p:spPr>
      </p:sp>
      <p:sp>
        <p:nvSpPr>
          <p:cNvPr id="3" name="cyan-glow-right">
            <a:extLst xmlns:a="http://schemas.openxmlformats.org/drawingml/2006/main">
              <a:ext uri="{FF2B5EF4-FFF2-40B4-BE49-F238E27FC236}">
                <a16:creationId xmlns:a16="http://schemas.microsoft.com/office/drawing/2014/main" id="{F14F6ADF-7F52-4899-9CD4-CA9BD435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-1295400"/>
            <a:ext cx="5943600" cy="480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DF2AEA-12A6-4394-85E3-F0BD45E4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466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AI Advisor and TCO Analysis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0D01119-2D08-45A3-B197-6A0E6002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1466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475569"/>
                </a:solidFill>
                <a:latin typeface="Inter"/>
                <a:ea typeface="Inter"/>
                <a:cs typeface="Inter"/>
              </a:rPr>
              <a:t>A conversational entry point routes users to grounded services and practical cost explanations.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45D6ED-DCEF-40B6-8DCC-098712F9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27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4748B"/>
                </a:solidFill>
                <a:latin typeface="Inter"/>
                <a:ea typeface="Inter"/>
                <a:cs typeface="Inter"/>
              </a:rPr>
              <a:t>CarVista Thesis Defense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906E072-8D8B-4932-890B-264C334D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9677400"/>
            <a:ext cx="133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8" name="advisor-chat">
            <a:extLst xmlns:a="http://schemas.openxmlformats.org/drawingml/2006/main">
              <a:ext uri="{FF2B5EF4-FFF2-40B4-BE49-F238E27FC236}">
                <a16:creationId xmlns:a16="http://schemas.microsoft.com/office/drawing/2014/main" id="{45131DCD-2E78-4FF5-A56B-DFC48687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7055168" cy="64293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3D816-B260-47B2-80F0-9D7627CA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289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2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44E56-BFD2-4257-A9D8-9236B4C9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003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AE2D0-E959-42D1-98A1-C3B8F5DB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468" y="2762250"/>
            <a:ext cx="14668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93A8F-7570-4BCF-8A8B-50C048AE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38450"/>
            <a:ext cx="1162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AI ADVISOR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F3813-0EAC-4643-866D-8DC93A03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09950"/>
            <a:ext cx="6400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Intent-aware concierge</a:t>
            </a:r>
          </a:p>
        </p:txBody>
      </p:sp>
      <p:sp>
        <p:nvSpPr>
          <p:cNvPr id="1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F23B456B-70FC-4A32-AD99-F5C45CF7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548AE616-90B3-458B-BA9A-AF045490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6240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Extracts preferences and missing fields</a:t>
            </a:r>
          </a:p>
        </p:txBody>
      </p:sp>
      <p:sp>
        <p:nvSpPr>
          <p:cNvPr id="1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215C0272-5751-4E9A-95F2-699D293C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3B20F27A-72B8-4559-B134-C7D3DA9F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4340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Asks one focused follow-up question</a:t>
            </a:r>
          </a:p>
        </p:txBody>
      </p:sp>
      <p:sp>
        <p:nvSpPr>
          <p:cNvPr id="1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547B3615-6BAF-4C40-8163-D4AC92FB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2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4DC4E1BF-348F-45A7-B899-7ADD1A14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2440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Routes to recommendation, comparison, price outlook, or TCO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1DD16-6CA6-4DE6-8628-44C99D40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67046"/>
            <a:ext cx="6407468" cy="167640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6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35DE2-0015-4F06-AE9B-22CB3DC0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72100"/>
            <a:ext cx="5943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0F172A"/>
                </a:solidFill>
                <a:latin typeface="Inter"/>
                <a:ea typeface="Inter"/>
                <a:cs typeface="Inter"/>
              </a:rPr>
              <a:t>I need a bit more detail before I can route this confidently.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36FA99-9A06-43B3-B9D1-00E20CB6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15000"/>
            <a:ext cx="5943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What budget range should I optimize for?</a:t>
            </a:r>
          </a:p>
        </p:txBody>
      </p:sp>
      <p:sp>
        <p:nvSpPr>
          <p:cNvPr id="23" name="tco-card">
            <a:extLst xmlns:a="http://schemas.openxmlformats.org/drawingml/2006/main">
              <a:ext uri="{FF2B5EF4-FFF2-40B4-BE49-F238E27FC236}">
                <a16:creationId xmlns:a16="http://schemas.microsoft.com/office/drawing/2014/main" id="{E61571AD-54AF-4467-A386-8F1C1363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018" y="2333625"/>
            <a:ext cx="8622983" cy="64293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B9B857-0B5F-4812-9102-A1509110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868" y="26289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2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12BB7F-C52B-4F83-9663-07134ADE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00350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4E9C7F-1AD0-46D2-83A8-B462AFB6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2762250"/>
            <a:ext cx="16764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C87AB3-8395-459F-BB50-F2F6F183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2838450"/>
            <a:ext cx="137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TCO ANALYSIS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482BE9-6374-416F-BDD4-8FE5B3E0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9950"/>
            <a:ext cx="7981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Backend calculates ownership cost components.</a:t>
            </a:r>
          </a:p>
        </p:txBody>
      </p:sp>
      <p:sp>
        <p:nvSpPr>
          <p:cNvPr id="29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6C644612-AFDD-46FF-BDBE-9A44B88B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1A37823-E944-4DC0-982A-B8F48EF0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62400"/>
            <a:ext cx="7772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Taxes, insurance, maintenance, depreciation, and fuel/energy</a:t>
            </a:r>
          </a:p>
        </p:txBody>
      </p:sp>
      <p:sp>
        <p:nvSpPr>
          <p:cNvPr id="31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085AA2C3-EF9C-4777-8FB9-65853A0F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63F12F74-AAB6-4A64-A8B5-2BC58C49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43400"/>
            <a:ext cx="7772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Annual and monthly averages over selected ownership years</a:t>
            </a:r>
          </a:p>
        </p:txBody>
      </p:sp>
      <p:sp>
        <p:nvSpPr>
          <p:cNvPr id="33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23EC2B53-99B1-4475-A7AD-67557837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2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BA0C568D-B6E0-498F-9346-0F88281A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24400"/>
            <a:ext cx="7772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Qwen3 explains cost drivers and practical advice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6AFD6E-5937-4EDC-A946-C4830165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868" y="5167046"/>
            <a:ext cx="2582228" cy="163830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E735A3-0D74-425D-B0AD-D2BCBA64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15000"/>
            <a:ext cx="2286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381A61-BDC0-40BA-9DD6-799711FE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21030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2563EB"/>
                </a:solidFill>
                <a:latin typeface="Space Grotesk"/>
                <a:ea typeface="Space Grotesk"/>
                <a:cs typeface="Space Grotesk"/>
              </a:rPr>
              <a:t>22%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9A6D6B-45E5-4AC7-914D-1560B8CA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534150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475569"/>
                </a:solidFill>
                <a:latin typeface="Inter"/>
                <a:ea typeface="Inter"/>
                <a:cs typeface="Inter"/>
              </a:rPr>
              <a:t>Tax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3193E5-A1C6-4DF1-A93D-C339ED1A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395" y="5167046"/>
            <a:ext cx="2582228" cy="163830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B42B76-0359-46E4-9C86-45AF373E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48640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570614-2697-49CA-B18C-7C49EF20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21030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rPr>
              <a:t>34%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44841B-E392-4A90-B089-8362E34F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534150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475569"/>
                </a:solidFill>
                <a:latin typeface="Inter"/>
                <a:ea typeface="Inter"/>
                <a:cs typeface="Inter"/>
              </a:rPr>
              <a:t>Depreciation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A14DFE-1F9C-411A-BC7E-E3C2DC11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8923" y="5167046"/>
            <a:ext cx="2582228" cy="163830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0454EA-404E-4E80-8F6F-119045FE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5791200"/>
            <a:ext cx="2286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0A78FF-E457-48F7-A037-0707EB33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21030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0F766E"/>
                </a:solidFill>
                <a:latin typeface="Space Grotesk"/>
                <a:ea typeface="Space Grotesk"/>
                <a:cs typeface="Space Grotesk"/>
              </a:rPr>
              <a:t>18%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850962-35B0-4B27-9542-73CCF5A1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534150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475569"/>
                </a:solidFill>
                <a:latin typeface="Inter"/>
                <a:ea typeface="Inter"/>
                <a:cs typeface="Inter"/>
              </a:rPr>
              <a:t>Running</a:t>
            </a:r>
          </a:p>
        </p:txBody>
      </p:sp>
    </p:spTree>
    <p:extLst>
      <p:ext uri="{BB962C8B-B14F-4D97-AF65-F5344CB8AC3E}">
        <p14:creationId xmlns:p14="http://schemas.microsoft.com/office/powerpoint/2010/main" val="210162091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2CFE4CF-0118-4369-B3AE-FE410C52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2" name="blue-glow-left">
            <a:extLst xmlns:a="http://schemas.openxmlformats.org/drawingml/2006/main">
              <a:ext uri="{FF2B5EF4-FFF2-40B4-BE49-F238E27FC236}">
                <a16:creationId xmlns:a16="http://schemas.microsoft.com/office/drawing/2014/main" id="{410D220C-604A-4940-BD1D-FA50B1D1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57400" y="-1676400"/>
            <a:ext cx="6477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0">
            <a:solidFill>
              <a:srgbClr val="E7F0FF"/>
            </a:solidFill>
            <a:prstDash val="solid"/>
          </a:ln>
        </p:spPr>
      </p:sp>
      <p:sp>
        <p:nvSpPr>
          <p:cNvPr id="3" name="cyan-glow-right">
            <a:extLst xmlns:a="http://schemas.openxmlformats.org/drawingml/2006/main">
              <a:ext uri="{FF2B5EF4-FFF2-40B4-BE49-F238E27FC236}">
                <a16:creationId xmlns:a16="http://schemas.microsoft.com/office/drawing/2014/main" id="{378287FD-CE45-435F-9B73-57F14EED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-1295400"/>
            <a:ext cx="5943600" cy="480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3D7D09-9E02-482D-9FCA-02C93FCA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466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Implementation Results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C17F587-0787-4350-86FD-9CCE123A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1466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475569"/>
                </a:solidFill>
                <a:latin typeface="Inter"/>
                <a:ea typeface="Inter"/>
                <a:cs typeface="Inter"/>
              </a:rPr>
              <a:t>Major product and API outcomes are implemented across the current CarVista codebase.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02CF197-EAA1-47E9-99BB-C3297211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27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4748B"/>
                </a:solidFill>
                <a:latin typeface="Inter"/>
                <a:ea typeface="Inter"/>
                <a:cs typeface="Inter"/>
              </a:rPr>
              <a:t>CarVista Thesis Defense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ED30B6B-C50F-42C5-BBF0-F20836CC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9677400"/>
            <a:ext cx="133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1839C-B0CE-4D30-8FFA-071C1FFA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5245100" cy="3038475"/>
          </a:xfrm>
          <a:prstGeom xmlns:a="http://schemas.openxmlformats.org/drawingml/2006/main" prst="roundRect">
            <a:avLst>
              <a:gd name="adj" fmla="val 9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7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E4D50-A89B-42A3-B750-D0C240F3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52700"/>
            <a:ext cx="70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Catalog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01B80-87AB-4F75-ACC6-E6EAEAB4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23847-0585-4201-B7DB-727A20ED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31795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0A848-0D3B-4B9C-948B-F19861C2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Browse variants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9B12D-2218-47D0-AE00-14004A9A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2345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0A006-11A3-460C-B9F6-D773C959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3855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Specs + reviews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B3067-E1B7-4389-B3E5-BC145EF4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12895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88633-631E-4EB1-BBA6-955CCE0F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Price history panel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D23CD-321A-46F9-A756-E128C97B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450" y="2333625"/>
            <a:ext cx="5245100" cy="3038475"/>
          </a:xfrm>
          <a:prstGeom xmlns:a="http://schemas.openxmlformats.org/drawingml/2006/main" prst="roundRect">
            <a:avLst>
              <a:gd name="adj" fmla="val 9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7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A332B-AF28-4FA8-844E-AE9E3D7F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Marketplace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B0A40-ADC9-4C8E-8861-0033F59C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590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E463F-AB60-4C08-BA9D-C75A0A52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931795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9C32B-FDDF-49B1-B81F-1A906E96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4800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Create listing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81B2A5-48B5-4539-BB86-294B4938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522345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ED33F3-F193-4463-8419-504A471E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Upload images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D6A0D-695A-45EB-9A75-9C91B32E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4112895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574385-A257-4681-B536-7161A56B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2910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Manage 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41D86D-0C50-40DF-B114-68B08940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6100" y="2333625"/>
            <a:ext cx="5245100" cy="3038475"/>
          </a:xfrm>
          <a:prstGeom xmlns:a="http://schemas.openxmlformats.org/drawingml/2006/main" prst="roundRect">
            <a:avLst>
              <a:gd name="adj" fmla="val 9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7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CC6344-2325-4A88-BA6A-1F2BD6FC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552700"/>
            <a:ext cx="1009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Saved Cars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738427-B006-4C9B-9746-7E839285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02ABDB-FDE3-41F0-B429-648C2194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700" y="3206115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F5D303-A4AE-467B-8493-D26138FE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31470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Save listings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83EAEC-FA91-40A7-8A8F-D282A25B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700" y="3796665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9438CC-183F-45CB-A621-4C60F22C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90525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Garage 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080372-FFE4-41CB-9AEA-DF87D4FC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700" y="4387215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5FD3C3-7679-450A-AA2A-896CC4A5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49580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Sort saved inventory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77996D-3E46-4FBB-9BB5-AD6BB04C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81650"/>
            <a:ext cx="5245100" cy="3038475"/>
          </a:xfrm>
          <a:prstGeom xmlns:a="http://schemas.openxmlformats.org/drawingml/2006/main" prst="roundRect">
            <a:avLst>
              <a:gd name="adj" fmla="val 9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7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B2F7AD-378A-4AE1-BF59-4C2AC7CB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91200"/>
            <a:ext cx="857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Requests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48CD99-FB12-4418-9710-5FD53567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81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49212C-48A0-4CA7-A68A-4737CD9F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54140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6DF640-3603-4D7D-81C4-99296EA3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7225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Send viewing request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216B53-023F-46B5-8210-67FAD4B6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044690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C472B5-A6A4-4479-A2D3-1E93F76D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6280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Inbox / outbox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70E71C-5757-4D74-A2E1-2AD31251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635240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1CCCA2-33DA-4AF1-84C6-3798ECDB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75335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Seller notifications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9849C3-C5ED-4E5C-9229-DEDE75A4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450" y="5581650"/>
            <a:ext cx="5245100" cy="3038475"/>
          </a:xfrm>
          <a:prstGeom xmlns:a="http://schemas.openxmlformats.org/drawingml/2006/main" prst="roundRect">
            <a:avLst>
              <a:gd name="adj" fmla="val 9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7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CC9293-A420-4AAC-BD27-376748E5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91200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AI Panels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054562-62EE-4111-A681-DD3B83F5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867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9C1D87-59D6-4DCE-93AB-E4900CB6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6179820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6C62C6-2255-4398-9664-AD0C63EE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28650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Assistant chat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B0170F-4EA3-4613-A316-5AFFAA07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6770370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3961F3-1BE9-4E5E-A29F-209AA025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87705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Comparison verdict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B657FC-FC57-43F2-ABD6-BAED316F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7360920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61A85B-A3D7-4DEA-A797-F8533550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746760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Price outlook + TCO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D7E6D2-4B3C-44C7-A75F-96DD0D25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6100" y="5581650"/>
            <a:ext cx="5245100" cy="3038475"/>
          </a:xfrm>
          <a:prstGeom xmlns:a="http://schemas.openxmlformats.org/drawingml/2006/main" prst="roundRect">
            <a:avLst>
              <a:gd name="adj" fmla="val 9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7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EFDFD5D-069A-4AE9-BA4A-7DBBECCA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791200"/>
            <a:ext cx="8191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API Docs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E3DEF6-221E-4F07-A2EB-C78BB16C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5981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0797D1-DF2A-4813-B9A5-1553E446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700" y="6454140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528C26-F7BD-4847-9E3E-8F748F73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57225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Swagger/OpenAPI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FBA44E-BC9B-48EB-BBDD-11B35BE6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700" y="7044690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453A7A-5FAD-4135-AF5C-9612AF81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16280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Auth-protected routes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35C85A-AD98-48CC-807D-3FEEC7A1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700" y="7635240"/>
            <a:ext cx="47879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D10D18-200E-43E6-8BB0-AD7345D6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753350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Service-level tests</a:t>
            </a:r>
          </a:p>
        </p:txBody>
      </p:sp>
    </p:spTree>
    <p:extLst>
      <p:ext uri="{BB962C8B-B14F-4D97-AF65-F5344CB8AC3E}">
        <p14:creationId xmlns:p14="http://schemas.microsoft.com/office/powerpoint/2010/main" val="2440837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DF8AF72-F702-4751-82A3-BAC75A8A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2" name="blue-glow-left">
            <a:extLst xmlns:a="http://schemas.openxmlformats.org/drawingml/2006/main">
              <a:ext uri="{FF2B5EF4-FFF2-40B4-BE49-F238E27FC236}">
                <a16:creationId xmlns:a16="http://schemas.microsoft.com/office/drawing/2014/main" id="{31DC1B11-A470-47CC-B0E2-8D58C91D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57400" y="-1676400"/>
            <a:ext cx="6477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0">
            <a:solidFill>
              <a:srgbClr val="E7F0FF"/>
            </a:solidFill>
            <a:prstDash val="solid"/>
          </a:ln>
        </p:spPr>
      </p:sp>
      <p:sp>
        <p:nvSpPr>
          <p:cNvPr id="3" name="cyan-glow-right">
            <a:extLst xmlns:a="http://schemas.openxmlformats.org/drawingml/2006/main">
              <a:ext uri="{FF2B5EF4-FFF2-40B4-BE49-F238E27FC236}">
                <a16:creationId xmlns:a16="http://schemas.microsoft.com/office/drawing/2014/main" id="{660582F4-052C-4266-99C8-1FE5912D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-1295400"/>
            <a:ext cx="5943600" cy="480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2C96E3-0D9B-4549-9E5C-BEAE75AF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466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Evaluation and Limitations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7FA044D-A39B-466B-AC00-E64986B3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1466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475569"/>
                </a:solidFill>
                <a:latin typeface="Inter"/>
                <a:ea typeface="Inter"/>
                <a:cs typeface="Inter"/>
              </a:rPr>
              <a:t>The project is validated through implementation scenarios, with clear next validation gaps.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B526CDD-3155-44B3-BE33-F5134188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27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4748B"/>
                </a:solidFill>
                <a:latin typeface="Inter"/>
                <a:ea typeface="Inter"/>
                <a:cs typeface="Inter"/>
              </a:rPr>
              <a:t>CarVista Thesis Defense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1E02F86-A76A-48DE-A6FF-EA4053CD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9677400"/>
            <a:ext cx="133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8" name="completed">
            <a:extLst xmlns:a="http://schemas.openxmlformats.org/drawingml/2006/main">
              <a:ext uri="{FF2B5EF4-FFF2-40B4-BE49-F238E27FC236}">
                <a16:creationId xmlns:a16="http://schemas.microsoft.com/office/drawing/2014/main" id="{9E0A707D-FECC-4338-B8BC-4E0E1633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5156200" cy="5334000"/>
          </a:xfrm>
          <a:prstGeom xmlns:a="http://schemas.openxmlformats.org/drawingml/2006/main" prst="roundRect">
            <a:avLst>
              <a:gd name="adj" fmla="val 5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F2C1F-459B-478D-A43D-53F6C748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52750"/>
            <a:ext cx="13620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87543-3DD9-4708-8F2A-B0BB0CFB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895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0F766E"/>
                </a:solidFill>
                <a:latin typeface="Inter"/>
                <a:ea typeface="Inter"/>
                <a:cs typeface="Inter"/>
              </a:rPr>
              <a:t>COMPLETED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894C1-4AF3-47CA-B4B7-C0A45687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67100"/>
            <a:ext cx="4552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Validation approach</a:t>
            </a:r>
          </a:p>
        </p:txBody>
      </p:sp>
      <p:sp>
        <p:nvSpPr>
          <p:cNvPr id="1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F9A2C862-9320-4D6C-8F42-8F49B35C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130EAD7C-7F31-461C-A639-3CD9BF6D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38600"/>
            <a:ext cx="434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Implementation-based scenarios</a:t>
            </a:r>
          </a:p>
        </p:txBody>
      </p:sp>
      <p:sp>
        <p:nvSpPr>
          <p:cNvPr id="1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260A7A00-743A-4FFF-B3D1-A2A55C71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9CB5F80F-5F43-49DB-948A-CF3F466F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38650"/>
            <a:ext cx="434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Feature completion mapping</a:t>
            </a:r>
          </a:p>
        </p:txBody>
      </p:sp>
      <p:sp>
        <p:nvSpPr>
          <p:cNvPr id="1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4CFDB753-C802-4F13-BB75-77DD47AC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2A00770B-4758-4069-B38C-BC64387E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19650"/>
            <a:ext cx="434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Service-level testing</a:t>
            </a:r>
          </a:p>
        </p:txBody>
      </p:sp>
      <p:sp>
        <p:nvSpPr>
          <p:cNvPr id="18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9A8F53FC-9749-42DC-8626-41234B68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B409AF40-378F-43CB-AA98-C95F105D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00650"/>
            <a:ext cx="434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Swagger API inspection</a:t>
            </a:r>
          </a:p>
        </p:txBody>
      </p:sp>
      <p:sp>
        <p:nvSpPr>
          <p:cNvPr id="20" name="limited">
            <a:extLst xmlns:a="http://schemas.openxmlformats.org/drawingml/2006/main">
              <a:ext uri="{FF2B5EF4-FFF2-40B4-BE49-F238E27FC236}">
                <a16:creationId xmlns:a16="http://schemas.microsoft.com/office/drawing/2014/main" id="{906E1648-E19D-4298-8F16-A4478CA6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0" y="2667000"/>
            <a:ext cx="5156200" cy="5334000"/>
          </a:xfrm>
          <a:prstGeom xmlns:a="http://schemas.openxmlformats.org/drawingml/2006/main" prst="roundRect">
            <a:avLst>
              <a:gd name="adj" fmla="val 5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11D67-ADD2-4884-9DF9-F0967AF6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0" y="2952750"/>
            <a:ext cx="11525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E80AE-6084-40CF-B632-D300134E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5309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B45309"/>
                </a:solidFill>
                <a:latin typeface="Inter"/>
                <a:ea typeface="Inter"/>
                <a:cs typeface="Inter"/>
              </a:rPr>
              <a:t>LIMITED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067EEF-C5A1-4C2C-A7F8-6EB5D861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67100"/>
            <a:ext cx="4552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Current limits</a:t>
            </a:r>
          </a:p>
        </p:txBody>
      </p:sp>
      <p:sp>
        <p:nvSpPr>
          <p:cNvPr id="2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72094F8E-145A-421E-B719-185CF357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F788A5B1-CB44-4270-B2DD-159CECBE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38600"/>
            <a:ext cx="434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No formal user study yet</a:t>
            </a:r>
          </a:p>
        </p:txBody>
      </p:sp>
      <p:sp>
        <p:nvSpPr>
          <p:cNvPr id="2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261765D4-10CA-46FF-8450-D57C9B95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1D88E2D-758B-4EC3-B8A7-B7407353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38650"/>
            <a:ext cx="434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Prediction accuracy not yet validated</a:t>
            </a:r>
          </a:p>
        </p:txBody>
      </p:sp>
      <p:sp>
        <p:nvSpPr>
          <p:cNvPr id="2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A9E78410-EF29-4F9F-B462-FDB4C6C9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8D1D507F-C9E5-4DF2-86F6-7045EEC0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19650"/>
            <a:ext cx="4343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Some admin, notification, and moderation UI areas are partial</a:t>
            </a:r>
          </a:p>
        </p:txBody>
      </p:sp>
      <p:sp>
        <p:nvSpPr>
          <p:cNvPr id="30" name="future">
            <a:extLst xmlns:a="http://schemas.openxmlformats.org/drawingml/2006/main">
              <a:ext uri="{FF2B5EF4-FFF2-40B4-BE49-F238E27FC236}">
                <a16:creationId xmlns:a16="http://schemas.microsoft.com/office/drawing/2014/main" id="{A1C9A757-0EEA-4937-BB85-60ED02FD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8800" y="2667000"/>
            <a:ext cx="5156200" cy="5334000"/>
          </a:xfrm>
          <a:prstGeom xmlns:a="http://schemas.openxmlformats.org/drawingml/2006/main" prst="roundRect">
            <a:avLst>
              <a:gd name="adj" fmla="val 5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62146F-151D-4AA9-BAE9-3EDE3C4E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3600" y="29527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D25A43-68ED-4C7A-9538-96C79D97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028950"/>
            <a:ext cx="838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FUTURE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383896-F894-401C-A07C-229B6C9A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467100"/>
            <a:ext cx="4552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What needs expansion</a:t>
            </a:r>
          </a:p>
        </p:txBody>
      </p:sp>
      <p:sp>
        <p:nvSpPr>
          <p:cNvPr id="3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15394F84-EAA6-4BF1-A090-669F3E89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772B008-6E7C-46D5-982E-B464D0B7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4038600"/>
            <a:ext cx="434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Broader market data coverage</a:t>
            </a:r>
          </a:p>
        </p:txBody>
      </p:sp>
      <p:sp>
        <p:nvSpPr>
          <p:cNvPr id="3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79BF82F6-A213-4740-BD3E-81C1AADA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50C900EC-8E14-4820-8E72-4EB2DD62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4438650"/>
            <a:ext cx="434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Better price outlook validation</a:t>
            </a:r>
          </a:p>
        </p:txBody>
      </p:sp>
      <p:sp>
        <p:nvSpPr>
          <p:cNvPr id="3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4FAF2D1B-383A-4EA5-A75E-AADD4B60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4C277C4A-C7FC-4781-A33A-65A5009E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4819650"/>
            <a:ext cx="434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475569"/>
                </a:solidFill>
                <a:latin typeface="Inter"/>
                <a:ea typeface="Inter"/>
                <a:cs typeface="Inter"/>
              </a:rPr>
              <a:t>Production monitoring for AI answer quality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F6A493-0F88-4E41-AF87-238EE570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382000"/>
            <a:ext cx="13335000" cy="9906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82B723-E1B7-42B9-8D90-9103C2A1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591550"/>
            <a:ext cx="12687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rPr>
              <a:t>Balanced thesis position: CarVista demonstrates working integration; empirical user and prediction validation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15108350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5956211-FC3B-4C88-B5EF-401B737A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</p:spPr>
      </p:sp>
      <p:sp>
        <p:nvSpPr>
          <p:cNvPr id="2" name="blue-glow-left">
            <a:extLst xmlns:a="http://schemas.openxmlformats.org/drawingml/2006/main">
              <a:ext uri="{FF2B5EF4-FFF2-40B4-BE49-F238E27FC236}">
                <a16:creationId xmlns:a16="http://schemas.microsoft.com/office/drawing/2014/main" id="{E61BD7AD-D3D1-41AB-8148-7E782DF5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57400" y="-1676400"/>
            <a:ext cx="6477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0">
            <a:solidFill>
              <a:srgbClr val="E7F0FF"/>
            </a:solidFill>
            <a:prstDash val="solid"/>
          </a:ln>
        </p:spPr>
      </p:sp>
      <p:sp>
        <p:nvSpPr>
          <p:cNvPr id="3" name="cyan-glow-right">
            <a:extLst xmlns:a="http://schemas.openxmlformats.org/drawingml/2006/main">
              <a:ext uri="{FF2B5EF4-FFF2-40B4-BE49-F238E27FC236}">
                <a16:creationId xmlns:a16="http://schemas.microsoft.com/office/drawing/2014/main" id="{54C9D946-9AAA-485B-B570-0EE44F05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-1295400"/>
            <a:ext cx="5943600" cy="480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C628B2-A2E1-465D-910B-C5C40E5A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4668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42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Conclusion and Future Work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2077A11-3C4D-4755-B15D-7CF29E05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1600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5E03E89-DE8A-4E3B-9286-F186981F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27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4748B"/>
                </a:solidFill>
                <a:latin typeface="Inter"/>
                <a:ea typeface="Inter"/>
                <a:cs typeface="Inter"/>
              </a:rPr>
              <a:t>CarVista Thesis Defense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D854FB1-0436-4747-A8D6-53B0903A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9677400"/>
            <a:ext cx="133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8" name="conclusion-summary">
            <a:extLst xmlns:a="http://schemas.openxmlformats.org/drawingml/2006/main">
              <a:ext uri="{FF2B5EF4-FFF2-40B4-BE49-F238E27FC236}">
                <a16:creationId xmlns:a16="http://schemas.microsoft.com/office/drawing/2014/main" id="{FAE8ED3A-CCE3-4AC3-9DCC-372DAA7A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11906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7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defRPr>
            </a:pPr>
            <a:r>
              <a:rPr sz="27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CarVista demonstrates a working full-stack automotive platform that connects catalog data, marketplace workflows, and AI-assisted decision support.</a:t>
            </a:r>
          </a:p>
        </p:txBody>
      </p:sp>
      <p:sp>
        <p:nvSpPr>
          <p:cNvPr id="9" name="future-work">
            <a:extLst xmlns:a="http://schemas.openxmlformats.org/drawingml/2006/main">
              <a:ext uri="{FF2B5EF4-FFF2-40B4-BE49-F238E27FC236}">
                <a16:creationId xmlns:a16="http://schemas.microsoft.com/office/drawing/2014/main" id="{859D7646-90F9-4576-992D-54694AA2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7991475" cy="44767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40248-9C08-4485-98EA-927B7621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D59E7-CFD2-4EE6-9AA3-3AD35044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67200"/>
            <a:ext cx="127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FUTURE WORK</a:t>
            </a:r>
          </a:p>
        </p:txBody>
      </p:sp>
      <p:sp>
        <p:nvSpPr>
          <p:cNvPr id="1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1F6CD0E9-1E4E-4F6A-A323-544DEF8A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8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28D97E5-679F-430F-9723-48D1763F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Improve market data coverage</a:t>
            </a:r>
          </a:p>
        </p:txBody>
      </p:sp>
      <p:sp>
        <p:nvSpPr>
          <p:cNvPr id="1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8181821A-2375-4570-8227-B3776980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86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5A5CB5ED-A569-4BE0-B803-5244F282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8635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Add formal user testing</a:t>
            </a:r>
          </a:p>
        </p:txBody>
      </p:sp>
      <p:sp>
        <p:nvSpPr>
          <p:cNvPr id="1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2CE3B072-87B1-4D0F-A3E0-795AE42B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8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512CDEFC-6466-459E-8E78-87A03DC7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8640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Improve price outlook validation</a:t>
            </a:r>
          </a:p>
        </p:txBody>
      </p:sp>
      <p:sp>
        <p:nvSpPr>
          <p:cNvPr id="18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BC5B56DA-7312-403B-A746-F6C6F4A8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6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31FF4B55-C16C-4ED0-AE31-6B6D739B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6740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Complete admin and notification UI</a:t>
            </a:r>
          </a:p>
        </p:txBody>
      </p:sp>
      <p:sp>
        <p:nvSpPr>
          <p:cNvPr id="20" name="bullet-dot-5">
            <a:extLst xmlns:a="http://schemas.openxmlformats.org/drawingml/2006/main">
              <a:ext uri="{FF2B5EF4-FFF2-40B4-BE49-F238E27FC236}">
                <a16:creationId xmlns:a16="http://schemas.microsoft.com/office/drawing/2014/main" id="{68424422-ACEA-4302-930D-4396C665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26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bullet-text-5">
            <a:extLst xmlns:a="http://schemas.openxmlformats.org/drawingml/2006/main">
              <a:ext uri="{FF2B5EF4-FFF2-40B4-BE49-F238E27FC236}">
                <a16:creationId xmlns:a16="http://schemas.microsoft.com/office/drawing/2014/main" id="{37EBC030-5483-4403-BA39-B5071331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6745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Improve AI answer quality and monitoring</a:t>
            </a:r>
          </a:p>
        </p:txBody>
      </p:sp>
      <p:sp>
        <p:nvSpPr>
          <p:cNvPr id="22" name="bullet-dot-6">
            <a:extLst xmlns:a="http://schemas.openxmlformats.org/drawingml/2006/main">
              <a:ext uri="{FF2B5EF4-FFF2-40B4-BE49-F238E27FC236}">
                <a16:creationId xmlns:a16="http://schemas.microsoft.com/office/drawing/2014/main" id="{8DEA968B-A1C6-4682-9998-91411832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66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bullet-text-6">
            <a:extLst xmlns:a="http://schemas.openxmlformats.org/drawingml/2006/main">
              <a:ext uri="{FF2B5EF4-FFF2-40B4-BE49-F238E27FC236}">
                <a16:creationId xmlns:a16="http://schemas.microsoft.com/office/drawing/2014/main" id="{11773B27-A132-470A-B71A-D50B4E5B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475569"/>
                </a:solidFill>
                <a:latin typeface="Inter"/>
                <a:ea typeface="Inter"/>
                <a:cs typeface="Inter"/>
              </a:rPr>
              <a:t>Prepare production deployment</a:t>
            </a:r>
          </a:p>
        </p:txBody>
      </p:sp>
      <p:sp>
        <p:nvSpPr>
          <p:cNvPr id="24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216BBD3D-4ACB-4CD9-8DB7-51550D7A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05250"/>
            <a:ext cx="7991475" cy="44767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chemeClr val="phClr"/>
          </a:lnRef>
          <a:effectRef xmlns:a="http://schemas.openxmlformats.org/drawingml/2006/main" idx="11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76EBFC-3231-4338-B246-14DD0CAF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48250"/>
            <a:ext cx="72009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075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defRPr>
            </a:pPr>
            <a:r>
              <a:rPr sz="3075" b="1">
                <a:solidFill>
                  <a:srgbClr val="1E3A8A"/>
                </a:solidFill>
                <a:latin typeface="Space Grotesk"/>
                <a:ea typeface="Space Grotesk"/>
                <a:cs typeface="Space Grotesk"/>
              </a:rPr>
              <a:t>CarVista helps users move from car information to car decisions with clearer data and AI-assisted guidance.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70F71D-0921-4F87-BFAD-1E889277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6865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C52F87-C5E7-4950-926E-FDD3DF66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953250"/>
            <a:ext cx="7200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475569"/>
                </a:solidFill>
                <a:latin typeface="Inter"/>
                <a:ea typeface="Inter"/>
                <a:cs typeface="Inter"/>
              </a:rPr>
              <a:t>Thank you.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3BEB48-7224-4493-9015-01DE5202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8382000"/>
            <a:ext cx="40386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7E91CB-E50F-484A-B977-82904E6D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7848600"/>
            <a:ext cx="2133600" cy="9144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13B5CF-89E6-4A9C-9235-7C37EA13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8773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3E2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D0A78E-C77E-45E6-A806-9AE5A627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8991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C0A63F-C9F0-4B73-95B8-ABB4338D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88773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3E2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D5246F-4406-4FDE-B401-EF3C34E4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991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B2ACF4-C1A3-4F5C-A6D5-532C9536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8534400"/>
            <a:ext cx="2667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6280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33350" dir="5400000">
              <a:srgbClr val="0F2D62">
                <a:alpha val="8000"/>
              </a:srgbClr>
            </a:outerShdw>
          </a:effectLst>
        </a:effectStyle>
        <a:effectStyle>
          <a:effectLst>
            <a:outerShdw blurRad="400050" dist="190500" dir="5400000">
              <a:srgbClr val="0F2D62">
                <a:alpha val="8000"/>
              </a:srgbClr>
            </a:outerShdw>
          </a:effectLst>
        </a:effectStyle>
        <a:effectStyle>
          <a:effectLst>
            <a:outerShdw blurRad="228600" dist="114300" dir="5400000">
              <a:srgbClr val="2563EB">
                <a:alpha val="10000"/>
              </a:srgbClr>
            </a:outerShdw>
          </a:effectLst>
        </a:effectStyle>
        <a:effectStyle>
          <a:effectLst>
            <a:outerShdw blurRad="228600" dist="114300" dir="5400000">
              <a:srgbClr val="0F2D62">
                <a:alpha val="6000"/>
              </a:srgbClr>
            </a:outerShdw>
          </a:effectLst>
        </a:effectStyle>
        <a:effectStyle>
          <a:effectLst>
            <a:outerShdw blurRad="266700" dist="133350" dir="5400000">
              <a:srgbClr val="0F2D62">
                <a:alpha val="7000"/>
              </a:srgbClr>
            </a:outerShdw>
          </a:effectLst>
        </a:effectStyle>
        <a:effectStyle>
          <a:effectLst>
            <a:outerShdw blurRad="323850" dist="171450" dir="5400000">
              <a:srgbClr val="0F2D62">
                <a:alpha val="8000"/>
              </a:srgbClr>
            </a:outerShdw>
          </a:effectLst>
        </a:effectStyle>
        <a:effectStyle>
          <a:effectLst>
            <a:outerShdw blurRad="285750" dist="133350" dir="5400000">
              <a:srgbClr val="0F2D62">
                <a:alpha val="8000"/>
              </a:srgbClr>
            </a:outerShdw>
          </a:effectLst>
        </a:effectStyle>
        <a:effectStyle>
          <a:effectLst>
            <a:outerShdw blurRad="342900" dist="171450" dir="5400000">
              <a:srgbClr val="0F2D62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2026-05-13T13:35:04.5380000Z</dcterms:created>
  <dcterms:modified xsi:type="dcterms:W3CDTF">2026-05-13T13:35:04.5380000Z</dcterms:modified>
</coreProperties>
</file>